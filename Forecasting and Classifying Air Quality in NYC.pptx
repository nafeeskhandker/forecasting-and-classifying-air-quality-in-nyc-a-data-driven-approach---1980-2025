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sldIdLst>
    <p:sldId id="256" r:id="rId5"/>
    <p:sldId id="259" r:id="rId6"/>
    <p:sldId id="286" r:id="rId7"/>
    <p:sldId id="315" r:id="rId8"/>
    <p:sldId id="284" r:id="rId9"/>
    <p:sldId id="282" r:id="rId10"/>
    <p:sldId id="283" r:id="rId11"/>
    <p:sldId id="285" r:id="rId12"/>
    <p:sldId id="280" r:id="rId13"/>
    <p:sldId id="260" r:id="rId14"/>
    <p:sldId id="261" r:id="rId15"/>
    <p:sldId id="262" r:id="rId16"/>
    <p:sldId id="288" r:id="rId17"/>
    <p:sldId id="287" r:id="rId18"/>
    <p:sldId id="289" r:id="rId19"/>
    <p:sldId id="290" r:id="rId20"/>
    <p:sldId id="293" r:id="rId21"/>
    <p:sldId id="291" r:id="rId22"/>
    <p:sldId id="294" r:id="rId23"/>
    <p:sldId id="295" r:id="rId24"/>
    <p:sldId id="296" r:id="rId25"/>
    <p:sldId id="297" r:id="rId26"/>
    <p:sldId id="298" r:id="rId27"/>
    <p:sldId id="300" r:id="rId28"/>
    <p:sldId id="299" r:id="rId29"/>
    <p:sldId id="301" r:id="rId30"/>
    <p:sldId id="302" r:id="rId31"/>
    <p:sldId id="313" r:id="rId32"/>
    <p:sldId id="314" r:id="rId33"/>
    <p:sldId id="316" r:id="rId34"/>
    <p:sldId id="312" r:id="rId35"/>
    <p:sldId id="304" r:id="rId36"/>
    <p:sldId id="309" r:id="rId37"/>
    <p:sldId id="310" r:id="rId38"/>
    <p:sldId id="311" r:id="rId39"/>
    <p:sldId id="27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3E0878-D4F0-4D4E-810F-C7209910139B}" v="417" dt="2025-12-18T00:10:05.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2.svg"/><Relationship Id="rId4" Type="http://schemas.openxmlformats.org/officeDocument/2006/relationships/image" Target="../media/image21.svg"/></Relationships>
</file>

<file path=ppt/diagrams/_rels/data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 Id="rId5" Type="http://schemas.openxmlformats.org/officeDocument/2006/relationships/image" Target="../media/image31.svg"/><Relationship Id="rId4" Type="http://schemas.openxmlformats.org/officeDocument/2006/relationships/image" Target="../media/image3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2.sv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image" Target="../media/image27.svg"/><Relationship Id="rId5" Type="http://schemas.openxmlformats.org/officeDocument/2006/relationships/image" Target="../media/image31.sv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00887A-82C9-4BFF-B65C-62F3A1DCBF43}"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A9CBEFD6-5B75-4ECA-97BF-B38FFF08ADD3}">
      <dgm:prSet/>
      <dgm:spPr/>
      <dgm:t>
        <a:bodyPr/>
        <a:lstStyle/>
        <a:p>
          <a:pPr>
            <a:lnSpc>
              <a:spcPct val="100000"/>
            </a:lnSpc>
          </a:pPr>
          <a:r>
            <a:rPr lang="en-US" b="1" dirty="0"/>
            <a:t>Date-time conversion: </a:t>
          </a:r>
          <a:r>
            <a:rPr lang="en-US" dirty="0"/>
            <a:t>Change the '</a:t>
          </a:r>
          <a:r>
            <a:rPr lang="en-US" dirty="0" err="1"/>
            <a:t>Obs_Date</a:t>
          </a:r>
          <a:r>
            <a:rPr lang="en-US" dirty="0"/>
            <a:t>' column to datetime format and arrange the </a:t>
          </a:r>
          <a:r>
            <a:rPr lang="en-US" dirty="0" err="1"/>
            <a:t>dataframe</a:t>
          </a:r>
          <a:r>
            <a:rPr lang="en-US" dirty="0"/>
            <a:t> in chronological order.</a:t>
          </a:r>
        </a:p>
      </dgm:t>
    </dgm:pt>
    <dgm:pt modelId="{EF02A954-8AEF-47B0-B042-27A4318EE089}" type="parTrans" cxnId="{51FB12CA-E379-4A2C-B3CD-A16D629860D5}">
      <dgm:prSet/>
      <dgm:spPr/>
      <dgm:t>
        <a:bodyPr/>
        <a:lstStyle/>
        <a:p>
          <a:endParaRPr lang="en-US"/>
        </a:p>
      </dgm:t>
    </dgm:pt>
    <dgm:pt modelId="{0FFDB36F-2A05-408F-8D53-CB79AD477353}" type="sibTrans" cxnId="{51FB12CA-E379-4A2C-B3CD-A16D629860D5}">
      <dgm:prSet/>
      <dgm:spPr/>
      <dgm:t>
        <a:bodyPr/>
        <a:lstStyle/>
        <a:p>
          <a:endParaRPr lang="en-US"/>
        </a:p>
      </dgm:t>
    </dgm:pt>
    <dgm:pt modelId="{506C34E4-DB7F-421E-AF1A-8511D421410C}">
      <dgm:prSet/>
      <dgm:spPr/>
      <dgm:t>
        <a:bodyPr/>
        <a:lstStyle/>
        <a:p>
          <a:pPr>
            <a:lnSpc>
              <a:spcPct val="100000"/>
            </a:lnSpc>
          </a:pPr>
          <a:r>
            <a:rPr lang="en-US" b="1"/>
            <a:t>AQI column extraction: </a:t>
          </a:r>
          <a:r>
            <a:rPr lang="en-US"/>
            <a:t>Choose the 'AQI' column and transform it into a NumPy array for analysis.</a:t>
          </a:r>
        </a:p>
      </dgm:t>
    </dgm:pt>
    <dgm:pt modelId="{BD48D6F7-3D3E-4B67-ACE9-1F542295B72C}" type="parTrans" cxnId="{1C934E6C-8E1A-48A2-AFA5-58BEBC1B81DF}">
      <dgm:prSet/>
      <dgm:spPr/>
      <dgm:t>
        <a:bodyPr/>
        <a:lstStyle/>
        <a:p>
          <a:endParaRPr lang="en-US"/>
        </a:p>
      </dgm:t>
    </dgm:pt>
    <dgm:pt modelId="{E8489205-A592-4CDC-A2E9-9E9826646C8C}" type="sibTrans" cxnId="{1C934E6C-8E1A-48A2-AFA5-58BEBC1B81DF}">
      <dgm:prSet/>
      <dgm:spPr/>
      <dgm:t>
        <a:bodyPr/>
        <a:lstStyle/>
        <a:p>
          <a:endParaRPr lang="en-US"/>
        </a:p>
      </dgm:t>
    </dgm:pt>
    <dgm:pt modelId="{79DA25A3-0AFC-430F-92E6-97EE4D20BC9D}">
      <dgm:prSet/>
      <dgm:spPr/>
      <dgm:t>
        <a:bodyPr/>
        <a:lstStyle/>
        <a:p>
          <a:pPr>
            <a:lnSpc>
              <a:spcPct val="100000"/>
            </a:lnSpc>
          </a:pPr>
          <a:r>
            <a:rPr lang="en-US" b="1"/>
            <a:t>AQI data scaling: </a:t>
          </a:r>
          <a:r>
            <a:rPr lang="en-US"/>
            <a:t>Scale the AQI values to a 0–1 range to enhance LSTM training.</a:t>
          </a:r>
        </a:p>
      </dgm:t>
    </dgm:pt>
    <dgm:pt modelId="{B47C776A-5A44-4302-85B1-52CD4F5D1311}" type="parTrans" cxnId="{37E3D524-3532-4414-9B61-ABB4C27F623D}">
      <dgm:prSet/>
      <dgm:spPr/>
      <dgm:t>
        <a:bodyPr/>
        <a:lstStyle/>
        <a:p>
          <a:endParaRPr lang="en-US"/>
        </a:p>
      </dgm:t>
    </dgm:pt>
    <dgm:pt modelId="{A6DA7B4F-A20F-4BD0-8C1E-0AF2A3778330}" type="sibTrans" cxnId="{37E3D524-3532-4414-9B61-ABB4C27F623D}">
      <dgm:prSet/>
      <dgm:spPr/>
      <dgm:t>
        <a:bodyPr/>
        <a:lstStyle/>
        <a:p>
          <a:endParaRPr lang="en-US"/>
        </a:p>
      </dgm:t>
    </dgm:pt>
    <dgm:pt modelId="{FBBC3262-576B-4E14-9CE3-96C2F697C679}">
      <dgm:prSet/>
      <dgm:spPr/>
      <dgm:t>
        <a:bodyPr/>
        <a:lstStyle/>
        <a:p>
          <a:pPr>
            <a:lnSpc>
              <a:spcPct val="100000"/>
            </a:lnSpc>
          </a:pPr>
          <a:r>
            <a:rPr lang="en-US" b="1" dirty="0"/>
            <a:t>LSTM sequence creation: </a:t>
          </a:r>
          <a:r>
            <a:rPr lang="en-US" dirty="0"/>
            <a:t>Create sliding windows of the previous 30 AQI values as input features and use the subsequent value as the target for LSTM.</a:t>
          </a:r>
        </a:p>
      </dgm:t>
    </dgm:pt>
    <dgm:pt modelId="{DAC9C179-AE3E-48C6-B999-F0C0CC65D953}" type="parTrans" cxnId="{FC6D2288-C792-4998-8F39-793B4FC28F38}">
      <dgm:prSet/>
      <dgm:spPr/>
      <dgm:t>
        <a:bodyPr/>
        <a:lstStyle/>
        <a:p>
          <a:endParaRPr lang="en-US"/>
        </a:p>
      </dgm:t>
    </dgm:pt>
    <dgm:pt modelId="{C665ACB5-BAA8-4B11-BD2A-3A031A08DA3E}" type="sibTrans" cxnId="{FC6D2288-C792-4998-8F39-793B4FC28F38}">
      <dgm:prSet/>
      <dgm:spPr/>
      <dgm:t>
        <a:bodyPr/>
        <a:lstStyle/>
        <a:p>
          <a:endParaRPr lang="en-US"/>
        </a:p>
      </dgm:t>
    </dgm:pt>
    <dgm:pt modelId="{2985DA7E-AAC6-40AB-A7B9-3C53846E8D23}">
      <dgm:prSet/>
      <dgm:spPr/>
      <dgm:t>
        <a:bodyPr/>
        <a:lstStyle/>
        <a:p>
          <a:pPr>
            <a:lnSpc>
              <a:spcPct val="100000"/>
            </a:lnSpc>
          </a:pPr>
          <a:r>
            <a:rPr lang="en-US" b="1"/>
            <a:t>Data reshaping: </a:t>
          </a:r>
          <a:r>
            <a:rPr lang="en-US"/>
            <a:t>Reshape the input data to 3D format [samples, time_steps, features] required by LSTM layers.</a:t>
          </a:r>
        </a:p>
      </dgm:t>
    </dgm:pt>
    <dgm:pt modelId="{EA997D9B-F7E8-4045-B4D7-C1555A5DEB9E}" type="parTrans" cxnId="{F0A8B15F-3BCD-4C4B-B70D-806B29232788}">
      <dgm:prSet/>
      <dgm:spPr/>
      <dgm:t>
        <a:bodyPr/>
        <a:lstStyle/>
        <a:p>
          <a:endParaRPr lang="en-US"/>
        </a:p>
      </dgm:t>
    </dgm:pt>
    <dgm:pt modelId="{55135A63-9116-48BE-9D77-047883AE61C2}" type="sibTrans" cxnId="{F0A8B15F-3BCD-4C4B-B70D-806B29232788}">
      <dgm:prSet/>
      <dgm:spPr/>
      <dgm:t>
        <a:bodyPr/>
        <a:lstStyle/>
        <a:p>
          <a:endParaRPr lang="en-US"/>
        </a:p>
      </dgm:t>
    </dgm:pt>
    <dgm:pt modelId="{22E6E6AF-834E-4C8B-A6F0-EE7EB3EC486D}" type="pres">
      <dgm:prSet presAssocID="{8800887A-82C9-4BFF-B65C-62F3A1DCBF43}" presName="root" presStyleCnt="0">
        <dgm:presLayoutVars>
          <dgm:dir/>
          <dgm:resizeHandles val="exact"/>
        </dgm:presLayoutVars>
      </dgm:prSet>
      <dgm:spPr/>
    </dgm:pt>
    <dgm:pt modelId="{754D3BBC-17B3-453C-9590-6CC8C61C8441}" type="pres">
      <dgm:prSet presAssocID="{A9CBEFD6-5B75-4ECA-97BF-B38FFF08ADD3}" presName="compNode" presStyleCnt="0"/>
      <dgm:spPr/>
    </dgm:pt>
    <dgm:pt modelId="{8D9FA292-D823-48F8-99FA-22ED501F2CA8}" type="pres">
      <dgm:prSet presAssocID="{A9CBEFD6-5B75-4ECA-97BF-B38FFF08ADD3}" presName="bgRect" presStyleLbl="bgShp" presStyleIdx="0" presStyleCnt="5"/>
      <dgm:spPr/>
    </dgm:pt>
    <dgm:pt modelId="{8EE2FD18-9E10-4F5D-8578-90AA64B574FA}" type="pres">
      <dgm:prSet presAssocID="{A9CBEFD6-5B75-4ECA-97BF-B38FFF08ADD3}"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ip Calendar"/>
        </a:ext>
      </dgm:extLst>
    </dgm:pt>
    <dgm:pt modelId="{FAC19280-61A3-4403-957E-E52B8219258F}" type="pres">
      <dgm:prSet presAssocID="{A9CBEFD6-5B75-4ECA-97BF-B38FFF08ADD3}" presName="spaceRect" presStyleCnt="0"/>
      <dgm:spPr/>
    </dgm:pt>
    <dgm:pt modelId="{AB8901C5-04C9-44DE-AFC3-A1E50F8A04F1}" type="pres">
      <dgm:prSet presAssocID="{A9CBEFD6-5B75-4ECA-97BF-B38FFF08ADD3}" presName="parTx" presStyleLbl="revTx" presStyleIdx="0" presStyleCnt="5">
        <dgm:presLayoutVars>
          <dgm:chMax val="0"/>
          <dgm:chPref val="0"/>
        </dgm:presLayoutVars>
      </dgm:prSet>
      <dgm:spPr/>
    </dgm:pt>
    <dgm:pt modelId="{41A15949-863B-473E-A60C-58081655449D}" type="pres">
      <dgm:prSet presAssocID="{0FFDB36F-2A05-408F-8D53-CB79AD477353}" presName="sibTrans" presStyleCnt="0"/>
      <dgm:spPr/>
    </dgm:pt>
    <dgm:pt modelId="{8F031AC5-5352-456E-ABA1-9B59189186AF}" type="pres">
      <dgm:prSet presAssocID="{506C34E4-DB7F-421E-AF1A-8511D421410C}" presName="compNode" presStyleCnt="0"/>
      <dgm:spPr/>
    </dgm:pt>
    <dgm:pt modelId="{4809756F-8437-42A7-96E9-48F163A8280F}" type="pres">
      <dgm:prSet presAssocID="{506C34E4-DB7F-421E-AF1A-8511D421410C}" presName="bgRect" presStyleLbl="bgShp" presStyleIdx="1" presStyleCnt="5"/>
      <dgm:spPr/>
    </dgm:pt>
    <dgm:pt modelId="{AAE03FDF-C0A7-4D3D-8746-D7AD6ABDEEDD}" type="pres">
      <dgm:prSet presAssocID="{506C34E4-DB7F-421E-AF1A-8511D421410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0A49CC46-BFF4-46F6-8007-92B2DA78657C}" type="pres">
      <dgm:prSet presAssocID="{506C34E4-DB7F-421E-AF1A-8511D421410C}" presName="spaceRect" presStyleCnt="0"/>
      <dgm:spPr/>
    </dgm:pt>
    <dgm:pt modelId="{AD039FDF-E199-4FA0-AEFF-FC9F6D395148}" type="pres">
      <dgm:prSet presAssocID="{506C34E4-DB7F-421E-AF1A-8511D421410C}" presName="parTx" presStyleLbl="revTx" presStyleIdx="1" presStyleCnt="5">
        <dgm:presLayoutVars>
          <dgm:chMax val="0"/>
          <dgm:chPref val="0"/>
        </dgm:presLayoutVars>
      </dgm:prSet>
      <dgm:spPr/>
    </dgm:pt>
    <dgm:pt modelId="{D330CF21-19E6-4772-94FD-6DD7085A0606}" type="pres">
      <dgm:prSet presAssocID="{E8489205-A592-4CDC-A2E9-9E9826646C8C}" presName="sibTrans" presStyleCnt="0"/>
      <dgm:spPr/>
    </dgm:pt>
    <dgm:pt modelId="{1DFFF43B-CA4D-4CBF-B95E-C338C48DB3CC}" type="pres">
      <dgm:prSet presAssocID="{79DA25A3-0AFC-430F-92E6-97EE4D20BC9D}" presName="compNode" presStyleCnt="0"/>
      <dgm:spPr/>
    </dgm:pt>
    <dgm:pt modelId="{D8164AD9-7C9C-48C1-9483-51101F7F48E7}" type="pres">
      <dgm:prSet presAssocID="{79DA25A3-0AFC-430F-92E6-97EE4D20BC9D}" presName="bgRect" presStyleLbl="bgShp" presStyleIdx="2" presStyleCnt="5"/>
      <dgm:spPr/>
    </dgm:pt>
    <dgm:pt modelId="{BB0B84D5-C74A-4B0B-8E12-A092345A6261}" type="pres">
      <dgm:prSet presAssocID="{79DA25A3-0AFC-430F-92E6-97EE4D20BC9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istics"/>
        </a:ext>
      </dgm:extLst>
    </dgm:pt>
    <dgm:pt modelId="{C88C52C1-032E-43FB-A71B-FBF78EFA6466}" type="pres">
      <dgm:prSet presAssocID="{79DA25A3-0AFC-430F-92E6-97EE4D20BC9D}" presName="spaceRect" presStyleCnt="0"/>
      <dgm:spPr/>
    </dgm:pt>
    <dgm:pt modelId="{49244FC1-A7C1-4328-9826-44B882DC2452}" type="pres">
      <dgm:prSet presAssocID="{79DA25A3-0AFC-430F-92E6-97EE4D20BC9D}" presName="parTx" presStyleLbl="revTx" presStyleIdx="2" presStyleCnt="5">
        <dgm:presLayoutVars>
          <dgm:chMax val="0"/>
          <dgm:chPref val="0"/>
        </dgm:presLayoutVars>
      </dgm:prSet>
      <dgm:spPr/>
    </dgm:pt>
    <dgm:pt modelId="{07D647BD-5045-4DB2-A48B-D43113126C39}" type="pres">
      <dgm:prSet presAssocID="{A6DA7B4F-A20F-4BD0-8C1E-0AF2A3778330}" presName="sibTrans" presStyleCnt="0"/>
      <dgm:spPr/>
    </dgm:pt>
    <dgm:pt modelId="{773893F0-48FF-4A6E-8364-DE997E03EE77}" type="pres">
      <dgm:prSet presAssocID="{FBBC3262-576B-4E14-9CE3-96C2F697C679}" presName="compNode" presStyleCnt="0"/>
      <dgm:spPr/>
    </dgm:pt>
    <dgm:pt modelId="{3642F5C9-61EF-4F8B-BCF8-4D0EEE4AD373}" type="pres">
      <dgm:prSet presAssocID="{FBBC3262-576B-4E14-9CE3-96C2F697C679}" presName="bgRect" presStyleLbl="bgShp" presStyleIdx="3" presStyleCnt="5"/>
      <dgm:spPr/>
    </dgm:pt>
    <dgm:pt modelId="{E3FE95E0-E625-40F7-99AE-D3A37C063DF3}" type="pres">
      <dgm:prSet presAssocID="{FBBC3262-576B-4E14-9CE3-96C2F697C679}"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BE7A704D-CD9F-46C8-978F-1F1EBAAF062C}" type="pres">
      <dgm:prSet presAssocID="{FBBC3262-576B-4E14-9CE3-96C2F697C679}" presName="spaceRect" presStyleCnt="0"/>
      <dgm:spPr/>
    </dgm:pt>
    <dgm:pt modelId="{A20BC8A7-B2A2-47E7-8DE3-E1C3C5DCD108}" type="pres">
      <dgm:prSet presAssocID="{FBBC3262-576B-4E14-9CE3-96C2F697C679}" presName="parTx" presStyleLbl="revTx" presStyleIdx="3" presStyleCnt="5">
        <dgm:presLayoutVars>
          <dgm:chMax val="0"/>
          <dgm:chPref val="0"/>
        </dgm:presLayoutVars>
      </dgm:prSet>
      <dgm:spPr/>
    </dgm:pt>
    <dgm:pt modelId="{A1565DBF-506E-4F23-99D6-9077E2D357E3}" type="pres">
      <dgm:prSet presAssocID="{C665ACB5-BAA8-4B11-BD2A-3A031A08DA3E}" presName="sibTrans" presStyleCnt="0"/>
      <dgm:spPr/>
    </dgm:pt>
    <dgm:pt modelId="{2DDC83DC-D9E5-4738-A032-564BD7EC4E96}" type="pres">
      <dgm:prSet presAssocID="{2985DA7E-AAC6-40AB-A7B9-3C53846E8D23}" presName="compNode" presStyleCnt="0"/>
      <dgm:spPr/>
    </dgm:pt>
    <dgm:pt modelId="{396C58EF-60E9-4E43-88CE-AA85AE26F7DC}" type="pres">
      <dgm:prSet presAssocID="{2985DA7E-AAC6-40AB-A7B9-3C53846E8D23}" presName="bgRect" presStyleLbl="bgShp" presStyleIdx="4" presStyleCnt="5"/>
      <dgm:spPr/>
    </dgm:pt>
    <dgm:pt modelId="{F4CCD73F-12C3-437E-A923-D2634A90A872}" type="pres">
      <dgm:prSet presAssocID="{2985DA7E-AAC6-40AB-A7B9-3C53846E8D2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5EA56469-8C36-4717-B645-1DA286BB451C}" type="pres">
      <dgm:prSet presAssocID="{2985DA7E-AAC6-40AB-A7B9-3C53846E8D23}" presName="spaceRect" presStyleCnt="0"/>
      <dgm:spPr/>
    </dgm:pt>
    <dgm:pt modelId="{5CD934FA-0080-4EDB-A6D3-12B1AAD3C6B9}" type="pres">
      <dgm:prSet presAssocID="{2985DA7E-AAC6-40AB-A7B9-3C53846E8D23}" presName="parTx" presStyleLbl="revTx" presStyleIdx="4" presStyleCnt="5">
        <dgm:presLayoutVars>
          <dgm:chMax val="0"/>
          <dgm:chPref val="0"/>
        </dgm:presLayoutVars>
      </dgm:prSet>
      <dgm:spPr/>
    </dgm:pt>
  </dgm:ptLst>
  <dgm:cxnLst>
    <dgm:cxn modelId="{7E3D0108-2CA7-4A9F-95DE-332B3AFD5CA2}" type="presOf" srcId="{2985DA7E-AAC6-40AB-A7B9-3C53846E8D23}" destId="{5CD934FA-0080-4EDB-A6D3-12B1AAD3C6B9}" srcOrd="0" destOrd="0" presId="urn:microsoft.com/office/officeart/2018/2/layout/IconVerticalSolidList"/>
    <dgm:cxn modelId="{F48FDB0B-F92E-45B5-81A6-71F15CAD26DC}" type="presOf" srcId="{A9CBEFD6-5B75-4ECA-97BF-B38FFF08ADD3}" destId="{AB8901C5-04C9-44DE-AFC3-A1E50F8A04F1}" srcOrd="0" destOrd="0" presId="urn:microsoft.com/office/officeart/2018/2/layout/IconVerticalSolidList"/>
    <dgm:cxn modelId="{90848213-54E9-4563-97FF-FAEB0E83CD92}" type="presOf" srcId="{506C34E4-DB7F-421E-AF1A-8511D421410C}" destId="{AD039FDF-E199-4FA0-AEFF-FC9F6D395148}" srcOrd="0" destOrd="0" presId="urn:microsoft.com/office/officeart/2018/2/layout/IconVerticalSolidList"/>
    <dgm:cxn modelId="{37E3D524-3532-4414-9B61-ABB4C27F623D}" srcId="{8800887A-82C9-4BFF-B65C-62F3A1DCBF43}" destId="{79DA25A3-0AFC-430F-92E6-97EE4D20BC9D}" srcOrd="2" destOrd="0" parTransId="{B47C776A-5A44-4302-85B1-52CD4F5D1311}" sibTransId="{A6DA7B4F-A20F-4BD0-8C1E-0AF2A3778330}"/>
    <dgm:cxn modelId="{F0A8B15F-3BCD-4C4B-B70D-806B29232788}" srcId="{8800887A-82C9-4BFF-B65C-62F3A1DCBF43}" destId="{2985DA7E-AAC6-40AB-A7B9-3C53846E8D23}" srcOrd="4" destOrd="0" parTransId="{EA997D9B-F7E8-4045-B4D7-C1555A5DEB9E}" sibTransId="{55135A63-9116-48BE-9D77-047883AE61C2}"/>
    <dgm:cxn modelId="{1C934E6C-8E1A-48A2-AFA5-58BEBC1B81DF}" srcId="{8800887A-82C9-4BFF-B65C-62F3A1DCBF43}" destId="{506C34E4-DB7F-421E-AF1A-8511D421410C}" srcOrd="1" destOrd="0" parTransId="{BD48D6F7-3D3E-4B67-ACE9-1F542295B72C}" sibTransId="{E8489205-A592-4CDC-A2E9-9E9826646C8C}"/>
    <dgm:cxn modelId="{FC6D2288-C792-4998-8F39-793B4FC28F38}" srcId="{8800887A-82C9-4BFF-B65C-62F3A1DCBF43}" destId="{FBBC3262-576B-4E14-9CE3-96C2F697C679}" srcOrd="3" destOrd="0" parTransId="{DAC9C179-AE3E-48C6-B999-F0C0CC65D953}" sibTransId="{C665ACB5-BAA8-4B11-BD2A-3A031A08DA3E}"/>
    <dgm:cxn modelId="{D09E3593-EE98-4E10-8CBD-A536700C2F59}" type="presOf" srcId="{8800887A-82C9-4BFF-B65C-62F3A1DCBF43}" destId="{22E6E6AF-834E-4C8B-A6F0-EE7EB3EC486D}" srcOrd="0" destOrd="0" presId="urn:microsoft.com/office/officeart/2018/2/layout/IconVerticalSolidList"/>
    <dgm:cxn modelId="{137010A5-FE60-46C3-A540-11420AB12E22}" type="presOf" srcId="{79DA25A3-0AFC-430F-92E6-97EE4D20BC9D}" destId="{49244FC1-A7C1-4328-9826-44B882DC2452}" srcOrd="0" destOrd="0" presId="urn:microsoft.com/office/officeart/2018/2/layout/IconVerticalSolidList"/>
    <dgm:cxn modelId="{D4D645C8-728B-445A-BD1C-38A3EAE0ED8C}" type="presOf" srcId="{FBBC3262-576B-4E14-9CE3-96C2F697C679}" destId="{A20BC8A7-B2A2-47E7-8DE3-E1C3C5DCD108}" srcOrd="0" destOrd="0" presId="urn:microsoft.com/office/officeart/2018/2/layout/IconVerticalSolidList"/>
    <dgm:cxn modelId="{51FB12CA-E379-4A2C-B3CD-A16D629860D5}" srcId="{8800887A-82C9-4BFF-B65C-62F3A1DCBF43}" destId="{A9CBEFD6-5B75-4ECA-97BF-B38FFF08ADD3}" srcOrd="0" destOrd="0" parTransId="{EF02A954-8AEF-47B0-B042-27A4318EE089}" sibTransId="{0FFDB36F-2A05-408F-8D53-CB79AD477353}"/>
    <dgm:cxn modelId="{53E433F2-8E22-4F9C-864D-03DC5B2D01FB}" type="presParOf" srcId="{22E6E6AF-834E-4C8B-A6F0-EE7EB3EC486D}" destId="{754D3BBC-17B3-453C-9590-6CC8C61C8441}" srcOrd="0" destOrd="0" presId="urn:microsoft.com/office/officeart/2018/2/layout/IconVerticalSolidList"/>
    <dgm:cxn modelId="{507E5B15-DBE1-4C7A-9369-E3A1C2FBFA8A}" type="presParOf" srcId="{754D3BBC-17B3-453C-9590-6CC8C61C8441}" destId="{8D9FA292-D823-48F8-99FA-22ED501F2CA8}" srcOrd="0" destOrd="0" presId="urn:microsoft.com/office/officeart/2018/2/layout/IconVerticalSolidList"/>
    <dgm:cxn modelId="{B657373C-42E4-4AC2-A459-53698BB67CCE}" type="presParOf" srcId="{754D3BBC-17B3-453C-9590-6CC8C61C8441}" destId="{8EE2FD18-9E10-4F5D-8578-90AA64B574FA}" srcOrd="1" destOrd="0" presId="urn:microsoft.com/office/officeart/2018/2/layout/IconVerticalSolidList"/>
    <dgm:cxn modelId="{B9B115BF-D6F5-4F8C-8B82-0CB6A82A9F88}" type="presParOf" srcId="{754D3BBC-17B3-453C-9590-6CC8C61C8441}" destId="{FAC19280-61A3-4403-957E-E52B8219258F}" srcOrd="2" destOrd="0" presId="urn:microsoft.com/office/officeart/2018/2/layout/IconVerticalSolidList"/>
    <dgm:cxn modelId="{A17A2EB5-5FEB-4838-88E0-40DC75067883}" type="presParOf" srcId="{754D3BBC-17B3-453C-9590-6CC8C61C8441}" destId="{AB8901C5-04C9-44DE-AFC3-A1E50F8A04F1}" srcOrd="3" destOrd="0" presId="urn:microsoft.com/office/officeart/2018/2/layout/IconVerticalSolidList"/>
    <dgm:cxn modelId="{593E78C0-F32D-4FFE-9F65-B3468FE9C127}" type="presParOf" srcId="{22E6E6AF-834E-4C8B-A6F0-EE7EB3EC486D}" destId="{41A15949-863B-473E-A60C-58081655449D}" srcOrd="1" destOrd="0" presId="urn:microsoft.com/office/officeart/2018/2/layout/IconVerticalSolidList"/>
    <dgm:cxn modelId="{E56CF06D-B6D0-48E6-A191-543AE3625DAB}" type="presParOf" srcId="{22E6E6AF-834E-4C8B-A6F0-EE7EB3EC486D}" destId="{8F031AC5-5352-456E-ABA1-9B59189186AF}" srcOrd="2" destOrd="0" presId="urn:microsoft.com/office/officeart/2018/2/layout/IconVerticalSolidList"/>
    <dgm:cxn modelId="{A321461E-D4F6-4D3A-90C9-8F8A18CE4927}" type="presParOf" srcId="{8F031AC5-5352-456E-ABA1-9B59189186AF}" destId="{4809756F-8437-42A7-96E9-48F163A8280F}" srcOrd="0" destOrd="0" presId="urn:microsoft.com/office/officeart/2018/2/layout/IconVerticalSolidList"/>
    <dgm:cxn modelId="{13E2BFBE-E1DE-4EEC-8B79-06788EA6D0E5}" type="presParOf" srcId="{8F031AC5-5352-456E-ABA1-9B59189186AF}" destId="{AAE03FDF-C0A7-4D3D-8746-D7AD6ABDEEDD}" srcOrd="1" destOrd="0" presId="urn:microsoft.com/office/officeart/2018/2/layout/IconVerticalSolidList"/>
    <dgm:cxn modelId="{F61F5857-35CD-4DAD-952C-87C6E0149785}" type="presParOf" srcId="{8F031AC5-5352-456E-ABA1-9B59189186AF}" destId="{0A49CC46-BFF4-46F6-8007-92B2DA78657C}" srcOrd="2" destOrd="0" presId="urn:microsoft.com/office/officeart/2018/2/layout/IconVerticalSolidList"/>
    <dgm:cxn modelId="{850F5359-95DB-4823-91A9-E221E9174CB2}" type="presParOf" srcId="{8F031AC5-5352-456E-ABA1-9B59189186AF}" destId="{AD039FDF-E199-4FA0-AEFF-FC9F6D395148}" srcOrd="3" destOrd="0" presId="urn:microsoft.com/office/officeart/2018/2/layout/IconVerticalSolidList"/>
    <dgm:cxn modelId="{DD46AD39-8A55-4F63-942E-DC695AB69BED}" type="presParOf" srcId="{22E6E6AF-834E-4C8B-A6F0-EE7EB3EC486D}" destId="{D330CF21-19E6-4772-94FD-6DD7085A0606}" srcOrd="3" destOrd="0" presId="urn:microsoft.com/office/officeart/2018/2/layout/IconVerticalSolidList"/>
    <dgm:cxn modelId="{A847CB0C-8C67-493E-9F36-50FCB171B60E}" type="presParOf" srcId="{22E6E6AF-834E-4C8B-A6F0-EE7EB3EC486D}" destId="{1DFFF43B-CA4D-4CBF-B95E-C338C48DB3CC}" srcOrd="4" destOrd="0" presId="urn:microsoft.com/office/officeart/2018/2/layout/IconVerticalSolidList"/>
    <dgm:cxn modelId="{FDCB1DA6-55CB-4D36-9A6B-93BD88218D2E}" type="presParOf" srcId="{1DFFF43B-CA4D-4CBF-B95E-C338C48DB3CC}" destId="{D8164AD9-7C9C-48C1-9483-51101F7F48E7}" srcOrd="0" destOrd="0" presId="urn:microsoft.com/office/officeart/2018/2/layout/IconVerticalSolidList"/>
    <dgm:cxn modelId="{8394EE71-29F4-453F-893F-59D5B2B98C65}" type="presParOf" srcId="{1DFFF43B-CA4D-4CBF-B95E-C338C48DB3CC}" destId="{BB0B84D5-C74A-4B0B-8E12-A092345A6261}" srcOrd="1" destOrd="0" presId="urn:microsoft.com/office/officeart/2018/2/layout/IconVerticalSolidList"/>
    <dgm:cxn modelId="{3EA0878C-D491-450A-82EC-89878269D7D6}" type="presParOf" srcId="{1DFFF43B-CA4D-4CBF-B95E-C338C48DB3CC}" destId="{C88C52C1-032E-43FB-A71B-FBF78EFA6466}" srcOrd="2" destOrd="0" presId="urn:microsoft.com/office/officeart/2018/2/layout/IconVerticalSolidList"/>
    <dgm:cxn modelId="{0433F7F5-E74D-4B81-A18B-B2B078C6BC01}" type="presParOf" srcId="{1DFFF43B-CA4D-4CBF-B95E-C338C48DB3CC}" destId="{49244FC1-A7C1-4328-9826-44B882DC2452}" srcOrd="3" destOrd="0" presId="urn:microsoft.com/office/officeart/2018/2/layout/IconVerticalSolidList"/>
    <dgm:cxn modelId="{0B968A8D-53BD-43CA-B236-AF399D24F09F}" type="presParOf" srcId="{22E6E6AF-834E-4C8B-A6F0-EE7EB3EC486D}" destId="{07D647BD-5045-4DB2-A48B-D43113126C39}" srcOrd="5" destOrd="0" presId="urn:microsoft.com/office/officeart/2018/2/layout/IconVerticalSolidList"/>
    <dgm:cxn modelId="{58062701-9601-42D1-83A3-68441BE29897}" type="presParOf" srcId="{22E6E6AF-834E-4C8B-A6F0-EE7EB3EC486D}" destId="{773893F0-48FF-4A6E-8364-DE997E03EE77}" srcOrd="6" destOrd="0" presId="urn:microsoft.com/office/officeart/2018/2/layout/IconVerticalSolidList"/>
    <dgm:cxn modelId="{E714D906-ED27-45DE-A779-89B96365BFF3}" type="presParOf" srcId="{773893F0-48FF-4A6E-8364-DE997E03EE77}" destId="{3642F5C9-61EF-4F8B-BCF8-4D0EEE4AD373}" srcOrd="0" destOrd="0" presId="urn:microsoft.com/office/officeart/2018/2/layout/IconVerticalSolidList"/>
    <dgm:cxn modelId="{72AE60F1-33EC-437D-8533-A4C44852220B}" type="presParOf" srcId="{773893F0-48FF-4A6E-8364-DE997E03EE77}" destId="{E3FE95E0-E625-40F7-99AE-D3A37C063DF3}" srcOrd="1" destOrd="0" presId="urn:microsoft.com/office/officeart/2018/2/layout/IconVerticalSolidList"/>
    <dgm:cxn modelId="{93B6F9B4-2088-45F0-A226-0224BA4B64B7}" type="presParOf" srcId="{773893F0-48FF-4A6E-8364-DE997E03EE77}" destId="{BE7A704D-CD9F-46C8-978F-1F1EBAAF062C}" srcOrd="2" destOrd="0" presId="urn:microsoft.com/office/officeart/2018/2/layout/IconVerticalSolidList"/>
    <dgm:cxn modelId="{D8FC5A64-1BA9-464B-9C09-0B1E422E2C34}" type="presParOf" srcId="{773893F0-48FF-4A6E-8364-DE997E03EE77}" destId="{A20BC8A7-B2A2-47E7-8DE3-E1C3C5DCD108}" srcOrd="3" destOrd="0" presId="urn:microsoft.com/office/officeart/2018/2/layout/IconVerticalSolidList"/>
    <dgm:cxn modelId="{2819FDBD-7188-45BD-B826-750C187B0C11}" type="presParOf" srcId="{22E6E6AF-834E-4C8B-A6F0-EE7EB3EC486D}" destId="{A1565DBF-506E-4F23-99D6-9077E2D357E3}" srcOrd="7" destOrd="0" presId="urn:microsoft.com/office/officeart/2018/2/layout/IconVerticalSolidList"/>
    <dgm:cxn modelId="{5EDF51A7-DCE4-4F80-BB96-FB794F037231}" type="presParOf" srcId="{22E6E6AF-834E-4C8B-A6F0-EE7EB3EC486D}" destId="{2DDC83DC-D9E5-4738-A032-564BD7EC4E96}" srcOrd="8" destOrd="0" presId="urn:microsoft.com/office/officeart/2018/2/layout/IconVerticalSolidList"/>
    <dgm:cxn modelId="{DF3B23BB-047D-4A57-A41E-07C9531E3F27}" type="presParOf" srcId="{2DDC83DC-D9E5-4738-A032-564BD7EC4E96}" destId="{396C58EF-60E9-4E43-88CE-AA85AE26F7DC}" srcOrd="0" destOrd="0" presId="urn:microsoft.com/office/officeart/2018/2/layout/IconVerticalSolidList"/>
    <dgm:cxn modelId="{E7E81377-B2CF-474D-BDDA-2BAD78225D22}" type="presParOf" srcId="{2DDC83DC-D9E5-4738-A032-564BD7EC4E96}" destId="{F4CCD73F-12C3-437E-A923-D2634A90A872}" srcOrd="1" destOrd="0" presId="urn:microsoft.com/office/officeart/2018/2/layout/IconVerticalSolidList"/>
    <dgm:cxn modelId="{68AC9FE1-F58C-4ECA-BB1B-327A333D7E48}" type="presParOf" srcId="{2DDC83DC-D9E5-4738-A032-564BD7EC4E96}" destId="{5EA56469-8C36-4717-B645-1DA286BB451C}" srcOrd="2" destOrd="0" presId="urn:microsoft.com/office/officeart/2018/2/layout/IconVerticalSolidList"/>
    <dgm:cxn modelId="{2EF6FEB6-8FE3-4D6B-A568-378D6EDCDCFA}" type="presParOf" srcId="{2DDC83DC-D9E5-4738-A032-564BD7EC4E96}" destId="{5CD934FA-0080-4EDB-A6D3-12B1AAD3C6B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F96745-E068-4051-8EE8-398D4BF219B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BC64567-45A4-4270-B70B-7998A839DE06}">
      <dgm:prSet/>
      <dgm:spPr/>
      <dgm:t>
        <a:bodyPr/>
        <a:lstStyle/>
        <a:p>
          <a:pPr>
            <a:lnSpc>
              <a:spcPct val="100000"/>
            </a:lnSpc>
          </a:pPr>
          <a:r>
            <a:rPr lang="en-US" b="1" dirty="0"/>
            <a:t>Logistic Regression: </a:t>
          </a:r>
        </a:p>
        <a:p>
          <a:pPr>
            <a:lnSpc>
              <a:spcPct val="100000"/>
            </a:lnSpc>
          </a:pPr>
          <a:r>
            <a:rPr lang="en-US" dirty="0"/>
            <a:t>A linear model that forecasts probabilities for distinct categories employing a logistic function.</a:t>
          </a:r>
          <a:br>
            <a:rPr lang="en-US" dirty="0"/>
          </a:br>
          <a:endParaRPr lang="en-US" dirty="0"/>
        </a:p>
      </dgm:t>
    </dgm:pt>
    <dgm:pt modelId="{FFDD71D0-24BF-43F5-963D-FC3B16CAC3FB}" type="parTrans" cxnId="{E575AB15-BA96-4758-BF6F-824FE54A4E47}">
      <dgm:prSet/>
      <dgm:spPr/>
      <dgm:t>
        <a:bodyPr/>
        <a:lstStyle/>
        <a:p>
          <a:endParaRPr lang="en-US"/>
        </a:p>
      </dgm:t>
    </dgm:pt>
    <dgm:pt modelId="{D480B3C8-745B-4E99-BE77-500C9783F08C}" type="sibTrans" cxnId="{E575AB15-BA96-4758-BF6F-824FE54A4E47}">
      <dgm:prSet/>
      <dgm:spPr/>
      <dgm:t>
        <a:bodyPr/>
        <a:lstStyle/>
        <a:p>
          <a:pPr>
            <a:lnSpc>
              <a:spcPct val="100000"/>
            </a:lnSpc>
          </a:pPr>
          <a:endParaRPr lang="en-US"/>
        </a:p>
      </dgm:t>
    </dgm:pt>
    <dgm:pt modelId="{1FC4E1CD-910E-4C9F-B4A5-D4D1099EE46D}">
      <dgm:prSet/>
      <dgm:spPr/>
      <dgm:t>
        <a:bodyPr/>
        <a:lstStyle/>
        <a:p>
          <a:pPr>
            <a:lnSpc>
              <a:spcPct val="100000"/>
            </a:lnSpc>
          </a:pPr>
          <a:r>
            <a:rPr lang="en-US" b="1" dirty="0"/>
            <a:t>Random Forest: </a:t>
          </a:r>
        </a:p>
        <a:p>
          <a:pPr>
            <a:lnSpc>
              <a:spcPct val="100000"/>
            </a:lnSpc>
          </a:pPr>
          <a:r>
            <a:rPr lang="en-US" dirty="0"/>
            <a:t>A collection of decision trees that enhances accuracy through the averaging of various tree predictions.</a:t>
          </a:r>
          <a:br>
            <a:rPr lang="en-US" dirty="0"/>
          </a:br>
          <a:endParaRPr lang="en-US" dirty="0"/>
        </a:p>
      </dgm:t>
    </dgm:pt>
    <dgm:pt modelId="{1938F2E8-274B-4EF9-9644-AE0E3C7EDE53}" type="parTrans" cxnId="{458EA070-7000-4EEB-B2B1-D7303A2ABA64}">
      <dgm:prSet/>
      <dgm:spPr/>
      <dgm:t>
        <a:bodyPr/>
        <a:lstStyle/>
        <a:p>
          <a:endParaRPr lang="en-US"/>
        </a:p>
      </dgm:t>
    </dgm:pt>
    <dgm:pt modelId="{543CB831-AE4E-4823-8880-B6094139C972}" type="sibTrans" cxnId="{458EA070-7000-4EEB-B2B1-D7303A2ABA64}">
      <dgm:prSet/>
      <dgm:spPr/>
      <dgm:t>
        <a:bodyPr/>
        <a:lstStyle/>
        <a:p>
          <a:pPr>
            <a:lnSpc>
              <a:spcPct val="100000"/>
            </a:lnSpc>
          </a:pPr>
          <a:endParaRPr lang="en-US"/>
        </a:p>
      </dgm:t>
    </dgm:pt>
    <dgm:pt modelId="{61008FD7-C1C8-4F5B-80D3-765F7AC1829F}">
      <dgm:prSet/>
      <dgm:spPr/>
      <dgm:t>
        <a:bodyPr/>
        <a:lstStyle/>
        <a:p>
          <a:pPr>
            <a:lnSpc>
              <a:spcPct val="100000"/>
            </a:lnSpc>
          </a:pPr>
          <a:r>
            <a:rPr lang="en-US" b="1" i="0" dirty="0"/>
            <a:t>Light Gradient Boosting Machine</a:t>
          </a:r>
          <a:r>
            <a:rPr lang="en-US" b="1" dirty="0"/>
            <a:t>: </a:t>
          </a:r>
        </a:p>
        <a:p>
          <a:pPr>
            <a:lnSpc>
              <a:spcPct val="100000"/>
            </a:lnSpc>
          </a:pPr>
          <a:r>
            <a:rPr lang="en-US" dirty="0"/>
            <a:t>A fast gradient boosting algorithm that grows trees leaf-wise to reduce errors from previous trees and handle large datasets efficiently.</a:t>
          </a:r>
        </a:p>
      </dgm:t>
    </dgm:pt>
    <dgm:pt modelId="{002B970B-5475-48A4-8902-F7C66023ED65}" type="parTrans" cxnId="{A4E45FC1-ADA0-49E2-B99B-DDF9EDC1FC7A}">
      <dgm:prSet/>
      <dgm:spPr/>
      <dgm:t>
        <a:bodyPr/>
        <a:lstStyle/>
        <a:p>
          <a:endParaRPr lang="en-US"/>
        </a:p>
      </dgm:t>
    </dgm:pt>
    <dgm:pt modelId="{A2F78936-6CF6-49C4-B149-A164A3DE2FC9}" type="sibTrans" cxnId="{A4E45FC1-ADA0-49E2-B99B-DDF9EDC1FC7A}">
      <dgm:prSet/>
      <dgm:spPr/>
      <dgm:t>
        <a:bodyPr/>
        <a:lstStyle/>
        <a:p>
          <a:pPr>
            <a:lnSpc>
              <a:spcPct val="100000"/>
            </a:lnSpc>
          </a:pPr>
          <a:endParaRPr lang="en-US"/>
        </a:p>
      </dgm:t>
    </dgm:pt>
    <dgm:pt modelId="{D51CC594-160D-4EAD-A97A-EB37940BA8F6}">
      <dgm:prSet/>
      <dgm:spPr/>
      <dgm:t>
        <a:bodyPr/>
        <a:lstStyle/>
        <a:p>
          <a:pPr>
            <a:lnSpc>
              <a:spcPct val="100000"/>
            </a:lnSpc>
          </a:pPr>
          <a:r>
            <a:rPr lang="en-US" b="1" dirty="0"/>
            <a:t>KNN (K-Nearest Neighbors):</a:t>
          </a:r>
        </a:p>
        <a:p>
          <a:pPr>
            <a:lnSpc>
              <a:spcPct val="100000"/>
            </a:lnSpc>
          </a:pPr>
          <a:r>
            <a:rPr lang="en-US" dirty="0"/>
            <a:t>A non-parametric technique that categorizes based on the predominant class among nearby neighbors.</a:t>
          </a:r>
          <a:br>
            <a:rPr lang="en-US" dirty="0"/>
          </a:br>
          <a:endParaRPr lang="en-US" dirty="0"/>
        </a:p>
      </dgm:t>
    </dgm:pt>
    <dgm:pt modelId="{2FC2503E-4AAB-480A-9689-A545A8E67296}" type="parTrans" cxnId="{594306CA-BFDC-404C-9EA6-AFEFFB64DBB9}">
      <dgm:prSet/>
      <dgm:spPr/>
      <dgm:t>
        <a:bodyPr/>
        <a:lstStyle/>
        <a:p>
          <a:endParaRPr lang="en-US"/>
        </a:p>
      </dgm:t>
    </dgm:pt>
    <dgm:pt modelId="{8CD12676-36AD-46A8-9B59-16340AECBA7D}" type="sibTrans" cxnId="{594306CA-BFDC-404C-9EA6-AFEFFB64DBB9}">
      <dgm:prSet/>
      <dgm:spPr/>
      <dgm:t>
        <a:bodyPr/>
        <a:lstStyle/>
        <a:p>
          <a:pPr>
            <a:lnSpc>
              <a:spcPct val="100000"/>
            </a:lnSpc>
          </a:pPr>
          <a:endParaRPr lang="en-US"/>
        </a:p>
      </dgm:t>
    </dgm:pt>
    <dgm:pt modelId="{D47145EE-DB34-4C4D-BC8A-3EF8E41AFD4E}">
      <dgm:prSet/>
      <dgm:spPr/>
      <dgm:t>
        <a:bodyPr/>
        <a:lstStyle/>
        <a:p>
          <a:pPr>
            <a:lnSpc>
              <a:spcPct val="100000"/>
            </a:lnSpc>
          </a:pPr>
          <a:r>
            <a:rPr lang="en-US" b="1"/>
            <a:t>SVC (Support Vector Classifier): </a:t>
          </a:r>
        </a:p>
        <a:p>
          <a:pPr>
            <a:lnSpc>
              <a:spcPct val="100000"/>
            </a:lnSpc>
          </a:pPr>
          <a:r>
            <a:rPr lang="en-US"/>
            <a:t>Identifies the best hyperplane that distinguishes classes and can represent non-linear boundaries using kernels</a:t>
          </a:r>
          <a:endParaRPr lang="en-US" dirty="0"/>
        </a:p>
      </dgm:t>
    </dgm:pt>
    <dgm:pt modelId="{91BF3F26-8C09-4ECA-96D4-6B72FB15297B}" type="parTrans" cxnId="{77F02EEF-9DCA-437D-8381-F10E1E769195}">
      <dgm:prSet/>
      <dgm:spPr/>
      <dgm:t>
        <a:bodyPr/>
        <a:lstStyle/>
        <a:p>
          <a:endParaRPr lang="en-US"/>
        </a:p>
      </dgm:t>
    </dgm:pt>
    <dgm:pt modelId="{51AF5BB7-02A1-4C10-8713-CD5D47175780}" type="sibTrans" cxnId="{77F02EEF-9DCA-437D-8381-F10E1E769195}">
      <dgm:prSet/>
      <dgm:spPr/>
      <dgm:t>
        <a:bodyPr/>
        <a:lstStyle/>
        <a:p>
          <a:endParaRPr lang="en-US"/>
        </a:p>
      </dgm:t>
    </dgm:pt>
    <dgm:pt modelId="{FF04D101-6CB0-43BD-9EB9-30B15ACF8554}" type="pres">
      <dgm:prSet presAssocID="{1CF96745-E068-4051-8EE8-398D4BF219BC}" presName="root" presStyleCnt="0">
        <dgm:presLayoutVars>
          <dgm:dir/>
          <dgm:resizeHandles val="exact"/>
        </dgm:presLayoutVars>
      </dgm:prSet>
      <dgm:spPr/>
    </dgm:pt>
    <dgm:pt modelId="{E3E08932-1C7A-420F-8067-26D4E21ABFD8}" type="pres">
      <dgm:prSet presAssocID="{ABC64567-45A4-4270-B70B-7998A839DE06}" presName="compNode" presStyleCnt="0"/>
      <dgm:spPr/>
    </dgm:pt>
    <dgm:pt modelId="{4755B9C3-3EE8-4C47-BA24-FE3C92F8BEE6}" type="pres">
      <dgm:prSet presAssocID="{ABC64567-45A4-4270-B70B-7998A839DE0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alculator"/>
        </a:ext>
      </dgm:extLst>
    </dgm:pt>
    <dgm:pt modelId="{3A727BD2-F5C9-4F94-9218-97DCB47912E8}" type="pres">
      <dgm:prSet presAssocID="{ABC64567-45A4-4270-B70B-7998A839DE06}" presName="spaceRect" presStyleCnt="0"/>
      <dgm:spPr/>
    </dgm:pt>
    <dgm:pt modelId="{6069712B-A94C-413A-85DB-821DF189746F}" type="pres">
      <dgm:prSet presAssocID="{ABC64567-45A4-4270-B70B-7998A839DE06}" presName="textRect" presStyleLbl="revTx" presStyleIdx="0" presStyleCnt="5">
        <dgm:presLayoutVars>
          <dgm:chMax val="1"/>
          <dgm:chPref val="1"/>
        </dgm:presLayoutVars>
      </dgm:prSet>
      <dgm:spPr/>
    </dgm:pt>
    <dgm:pt modelId="{F7F45377-338F-4AFE-845B-0A1C016959F4}" type="pres">
      <dgm:prSet presAssocID="{D480B3C8-745B-4E99-BE77-500C9783F08C}" presName="sibTrans" presStyleCnt="0"/>
      <dgm:spPr/>
    </dgm:pt>
    <dgm:pt modelId="{1ED1BE37-3706-41A7-A1D2-54DED4582AC7}" type="pres">
      <dgm:prSet presAssocID="{1FC4E1CD-910E-4C9F-B4A5-D4D1099EE46D}" presName="compNode" presStyleCnt="0"/>
      <dgm:spPr/>
    </dgm:pt>
    <dgm:pt modelId="{5B39E6FF-39C7-4FDD-8199-8EBEDE8FE9C4}" type="pres">
      <dgm:prSet presAssocID="{1FC4E1CD-910E-4C9F-B4A5-D4D1099EE46D}"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rest scene"/>
        </a:ext>
      </dgm:extLst>
    </dgm:pt>
    <dgm:pt modelId="{C8DF362E-593A-4321-83EF-7C55D90079C7}" type="pres">
      <dgm:prSet presAssocID="{1FC4E1CD-910E-4C9F-B4A5-D4D1099EE46D}" presName="spaceRect" presStyleCnt="0"/>
      <dgm:spPr/>
    </dgm:pt>
    <dgm:pt modelId="{7EECB6A2-7060-4B98-9587-323A4007CDE6}" type="pres">
      <dgm:prSet presAssocID="{1FC4E1CD-910E-4C9F-B4A5-D4D1099EE46D}" presName="textRect" presStyleLbl="revTx" presStyleIdx="1" presStyleCnt="5">
        <dgm:presLayoutVars>
          <dgm:chMax val="1"/>
          <dgm:chPref val="1"/>
        </dgm:presLayoutVars>
      </dgm:prSet>
      <dgm:spPr/>
    </dgm:pt>
    <dgm:pt modelId="{17F4C0A7-9388-40A5-819F-D667809EF686}" type="pres">
      <dgm:prSet presAssocID="{543CB831-AE4E-4823-8880-B6094139C972}" presName="sibTrans" presStyleCnt="0"/>
      <dgm:spPr/>
    </dgm:pt>
    <dgm:pt modelId="{A9FADE16-7452-436F-B998-EFD4A28346B6}" type="pres">
      <dgm:prSet presAssocID="{61008FD7-C1C8-4F5B-80D3-765F7AC1829F}" presName="compNode" presStyleCnt="0"/>
      <dgm:spPr/>
    </dgm:pt>
    <dgm:pt modelId="{FD36365C-BDB0-477E-87AB-4C628554C17C}" type="pres">
      <dgm:prSet presAssocID="{61008FD7-C1C8-4F5B-80D3-765F7AC1829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eciduous tree"/>
        </a:ext>
      </dgm:extLst>
    </dgm:pt>
    <dgm:pt modelId="{6E492AD7-95D6-42C1-80FA-63A78114B425}" type="pres">
      <dgm:prSet presAssocID="{61008FD7-C1C8-4F5B-80D3-765F7AC1829F}" presName="spaceRect" presStyleCnt="0"/>
      <dgm:spPr/>
    </dgm:pt>
    <dgm:pt modelId="{800D6CEA-1C32-49B1-A43E-8449452D7151}" type="pres">
      <dgm:prSet presAssocID="{61008FD7-C1C8-4F5B-80D3-765F7AC1829F}" presName="textRect" presStyleLbl="revTx" presStyleIdx="2" presStyleCnt="5">
        <dgm:presLayoutVars>
          <dgm:chMax val="1"/>
          <dgm:chPref val="1"/>
        </dgm:presLayoutVars>
      </dgm:prSet>
      <dgm:spPr/>
    </dgm:pt>
    <dgm:pt modelId="{6B9115D2-87C3-441C-8F42-8E1AB92554C2}" type="pres">
      <dgm:prSet presAssocID="{A2F78936-6CF6-49C4-B149-A164A3DE2FC9}" presName="sibTrans" presStyleCnt="0"/>
      <dgm:spPr/>
    </dgm:pt>
    <dgm:pt modelId="{3D4392F9-D192-4D54-BCA3-5D4457DCE788}" type="pres">
      <dgm:prSet presAssocID="{D51CC594-160D-4EAD-A97A-EB37940BA8F6}" presName="compNode" presStyleCnt="0"/>
      <dgm:spPr/>
    </dgm:pt>
    <dgm:pt modelId="{5071BD31-8B6B-473B-9616-55297C71EA8D}" type="pres">
      <dgm:prSet presAssocID="{D51CC594-160D-4EAD-A97A-EB37940BA8F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ter"/>
        </a:ext>
      </dgm:extLst>
    </dgm:pt>
    <dgm:pt modelId="{67A2F32E-E2E1-40C0-A64C-9EC8CBF38E32}" type="pres">
      <dgm:prSet presAssocID="{D51CC594-160D-4EAD-A97A-EB37940BA8F6}" presName="spaceRect" presStyleCnt="0"/>
      <dgm:spPr/>
    </dgm:pt>
    <dgm:pt modelId="{400C781C-288D-4AAA-BD9B-2BAE1276C17C}" type="pres">
      <dgm:prSet presAssocID="{D51CC594-160D-4EAD-A97A-EB37940BA8F6}" presName="textRect" presStyleLbl="revTx" presStyleIdx="3" presStyleCnt="5">
        <dgm:presLayoutVars>
          <dgm:chMax val="1"/>
          <dgm:chPref val="1"/>
        </dgm:presLayoutVars>
      </dgm:prSet>
      <dgm:spPr/>
    </dgm:pt>
    <dgm:pt modelId="{39075B1A-A18F-43D1-9624-AAA2E1892B34}" type="pres">
      <dgm:prSet presAssocID="{8CD12676-36AD-46A8-9B59-16340AECBA7D}" presName="sibTrans" presStyleCnt="0"/>
      <dgm:spPr/>
    </dgm:pt>
    <dgm:pt modelId="{F8070203-A22A-421A-92F4-2FA2644EE047}" type="pres">
      <dgm:prSet presAssocID="{D47145EE-DB34-4C4D-BC8A-3EF8E41AFD4E}" presName="compNode" presStyleCnt="0"/>
      <dgm:spPr/>
    </dgm:pt>
    <dgm:pt modelId="{6BFA15C1-011C-44D4-9D12-D44B801E7E84}" type="pres">
      <dgm:prSet presAssocID="{D47145EE-DB34-4C4D-BC8A-3EF8E41AFD4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lowchart"/>
        </a:ext>
      </dgm:extLst>
    </dgm:pt>
    <dgm:pt modelId="{10067136-6B47-4D31-BFA9-AE69D6D4E501}" type="pres">
      <dgm:prSet presAssocID="{D47145EE-DB34-4C4D-BC8A-3EF8E41AFD4E}" presName="spaceRect" presStyleCnt="0"/>
      <dgm:spPr/>
    </dgm:pt>
    <dgm:pt modelId="{AF64011D-4A25-4F6C-889D-C8CA41D8184E}" type="pres">
      <dgm:prSet presAssocID="{D47145EE-DB34-4C4D-BC8A-3EF8E41AFD4E}" presName="textRect" presStyleLbl="revTx" presStyleIdx="4" presStyleCnt="5">
        <dgm:presLayoutVars>
          <dgm:chMax val="1"/>
          <dgm:chPref val="1"/>
        </dgm:presLayoutVars>
      </dgm:prSet>
      <dgm:spPr/>
    </dgm:pt>
  </dgm:ptLst>
  <dgm:cxnLst>
    <dgm:cxn modelId="{E575AB15-BA96-4758-BF6F-824FE54A4E47}" srcId="{1CF96745-E068-4051-8EE8-398D4BF219BC}" destId="{ABC64567-45A4-4270-B70B-7998A839DE06}" srcOrd="0" destOrd="0" parTransId="{FFDD71D0-24BF-43F5-963D-FC3B16CAC3FB}" sibTransId="{D480B3C8-745B-4E99-BE77-500C9783F08C}"/>
    <dgm:cxn modelId="{FD459340-A14C-4F96-9CD5-EF2D7E7C95D3}" type="presOf" srcId="{D47145EE-DB34-4C4D-BC8A-3EF8E41AFD4E}" destId="{AF64011D-4A25-4F6C-889D-C8CA41D8184E}" srcOrd="0" destOrd="0" presId="urn:microsoft.com/office/officeart/2018/2/layout/IconLabelList"/>
    <dgm:cxn modelId="{34FFFA46-6C38-44FE-862F-996537DE4714}" type="presOf" srcId="{1FC4E1CD-910E-4C9F-B4A5-D4D1099EE46D}" destId="{7EECB6A2-7060-4B98-9587-323A4007CDE6}" srcOrd="0" destOrd="0" presId="urn:microsoft.com/office/officeart/2018/2/layout/IconLabelList"/>
    <dgm:cxn modelId="{458EA070-7000-4EEB-B2B1-D7303A2ABA64}" srcId="{1CF96745-E068-4051-8EE8-398D4BF219BC}" destId="{1FC4E1CD-910E-4C9F-B4A5-D4D1099EE46D}" srcOrd="1" destOrd="0" parTransId="{1938F2E8-274B-4EF9-9644-AE0E3C7EDE53}" sibTransId="{543CB831-AE4E-4823-8880-B6094139C972}"/>
    <dgm:cxn modelId="{D563DC7A-A640-4CBE-8359-1FE83330A132}" type="presOf" srcId="{1CF96745-E068-4051-8EE8-398D4BF219BC}" destId="{FF04D101-6CB0-43BD-9EB9-30B15ACF8554}" srcOrd="0" destOrd="0" presId="urn:microsoft.com/office/officeart/2018/2/layout/IconLabelList"/>
    <dgm:cxn modelId="{4A927FB4-B5CE-45F3-8826-A1636F982340}" type="presOf" srcId="{61008FD7-C1C8-4F5B-80D3-765F7AC1829F}" destId="{800D6CEA-1C32-49B1-A43E-8449452D7151}" srcOrd="0" destOrd="0" presId="urn:microsoft.com/office/officeart/2018/2/layout/IconLabelList"/>
    <dgm:cxn modelId="{8B6110B5-6488-43E0-8A10-AA46D036EC53}" type="presOf" srcId="{D51CC594-160D-4EAD-A97A-EB37940BA8F6}" destId="{400C781C-288D-4AAA-BD9B-2BAE1276C17C}" srcOrd="0" destOrd="0" presId="urn:microsoft.com/office/officeart/2018/2/layout/IconLabelList"/>
    <dgm:cxn modelId="{A4E45FC1-ADA0-49E2-B99B-DDF9EDC1FC7A}" srcId="{1CF96745-E068-4051-8EE8-398D4BF219BC}" destId="{61008FD7-C1C8-4F5B-80D3-765F7AC1829F}" srcOrd="2" destOrd="0" parTransId="{002B970B-5475-48A4-8902-F7C66023ED65}" sibTransId="{A2F78936-6CF6-49C4-B149-A164A3DE2FC9}"/>
    <dgm:cxn modelId="{594306CA-BFDC-404C-9EA6-AFEFFB64DBB9}" srcId="{1CF96745-E068-4051-8EE8-398D4BF219BC}" destId="{D51CC594-160D-4EAD-A97A-EB37940BA8F6}" srcOrd="3" destOrd="0" parTransId="{2FC2503E-4AAB-480A-9689-A545A8E67296}" sibTransId="{8CD12676-36AD-46A8-9B59-16340AECBA7D}"/>
    <dgm:cxn modelId="{2FC699ED-02E9-4434-82EF-FD325AFACAE3}" type="presOf" srcId="{ABC64567-45A4-4270-B70B-7998A839DE06}" destId="{6069712B-A94C-413A-85DB-821DF189746F}" srcOrd="0" destOrd="0" presId="urn:microsoft.com/office/officeart/2018/2/layout/IconLabelList"/>
    <dgm:cxn modelId="{77F02EEF-9DCA-437D-8381-F10E1E769195}" srcId="{1CF96745-E068-4051-8EE8-398D4BF219BC}" destId="{D47145EE-DB34-4C4D-BC8A-3EF8E41AFD4E}" srcOrd="4" destOrd="0" parTransId="{91BF3F26-8C09-4ECA-96D4-6B72FB15297B}" sibTransId="{51AF5BB7-02A1-4C10-8713-CD5D47175780}"/>
    <dgm:cxn modelId="{8D1E45EB-F0AF-4BAE-9126-B218E3BCC941}" type="presParOf" srcId="{FF04D101-6CB0-43BD-9EB9-30B15ACF8554}" destId="{E3E08932-1C7A-420F-8067-26D4E21ABFD8}" srcOrd="0" destOrd="0" presId="urn:microsoft.com/office/officeart/2018/2/layout/IconLabelList"/>
    <dgm:cxn modelId="{A688D3DC-9DDB-46A2-98BB-44DCA6E6F72B}" type="presParOf" srcId="{E3E08932-1C7A-420F-8067-26D4E21ABFD8}" destId="{4755B9C3-3EE8-4C47-BA24-FE3C92F8BEE6}" srcOrd="0" destOrd="0" presId="urn:microsoft.com/office/officeart/2018/2/layout/IconLabelList"/>
    <dgm:cxn modelId="{6E760335-07F4-4D02-9A31-943B7C24083D}" type="presParOf" srcId="{E3E08932-1C7A-420F-8067-26D4E21ABFD8}" destId="{3A727BD2-F5C9-4F94-9218-97DCB47912E8}" srcOrd="1" destOrd="0" presId="urn:microsoft.com/office/officeart/2018/2/layout/IconLabelList"/>
    <dgm:cxn modelId="{48337BE6-9018-485E-8B9A-38CA6886B7F6}" type="presParOf" srcId="{E3E08932-1C7A-420F-8067-26D4E21ABFD8}" destId="{6069712B-A94C-413A-85DB-821DF189746F}" srcOrd="2" destOrd="0" presId="urn:microsoft.com/office/officeart/2018/2/layout/IconLabelList"/>
    <dgm:cxn modelId="{680649CC-23EA-4358-9380-2A7072D995E0}" type="presParOf" srcId="{FF04D101-6CB0-43BD-9EB9-30B15ACF8554}" destId="{F7F45377-338F-4AFE-845B-0A1C016959F4}" srcOrd="1" destOrd="0" presId="urn:microsoft.com/office/officeart/2018/2/layout/IconLabelList"/>
    <dgm:cxn modelId="{5A92191C-31F0-43B6-AF98-07627A89A4E6}" type="presParOf" srcId="{FF04D101-6CB0-43BD-9EB9-30B15ACF8554}" destId="{1ED1BE37-3706-41A7-A1D2-54DED4582AC7}" srcOrd="2" destOrd="0" presId="urn:microsoft.com/office/officeart/2018/2/layout/IconLabelList"/>
    <dgm:cxn modelId="{C309C996-7911-4B85-B077-E3D3644AE0E3}" type="presParOf" srcId="{1ED1BE37-3706-41A7-A1D2-54DED4582AC7}" destId="{5B39E6FF-39C7-4FDD-8199-8EBEDE8FE9C4}" srcOrd="0" destOrd="0" presId="urn:microsoft.com/office/officeart/2018/2/layout/IconLabelList"/>
    <dgm:cxn modelId="{C7B4C2FC-30C1-4B8E-97C0-B8895175A85E}" type="presParOf" srcId="{1ED1BE37-3706-41A7-A1D2-54DED4582AC7}" destId="{C8DF362E-593A-4321-83EF-7C55D90079C7}" srcOrd="1" destOrd="0" presId="urn:microsoft.com/office/officeart/2018/2/layout/IconLabelList"/>
    <dgm:cxn modelId="{B54E7E64-2020-4C25-9862-491CDB04CD7A}" type="presParOf" srcId="{1ED1BE37-3706-41A7-A1D2-54DED4582AC7}" destId="{7EECB6A2-7060-4B98-9587-323A4007CDE6}" srcOrd="2" destOrd="0" presId="urn:microsoft.com/office/officeart/2018/2/layout/IconLabelList"/>
    <dgm:cxn modelId="{12F1DBCD-010A-460E-B8DA-B09FACDA945A}" type="presParOf" srcId="{FF04D101-6CB0-43BD-9EB9-30B15ACF8554}" destId="{17F4C0A7-9388-40A5-819F-D667809EF686}" srcOrd="3" destOrd="0" presId="urn:microsoft.com/office/officeart/2018/2/layout/IconLabelList"/>
    <dgm:cxn modelId="{F1E6A323-4FAC-444E-B3D6-F27321E174FF}" type="presParOf" srcId="{FF04D101-6CB0-43BD-9EB9-30B15ACF8554}" destId="{A9FADE16-7452-436F-B998-EFD4A28346B6}" srcOrd="4" destOrd="0" presId="urn:microsoft.com/office/officeart/2018/2/layout/IconLabelList"/>
    <dgm:cxn modelId="{91431291-65DC-49E8-9431-B3E4B17895B5}" type="presParOf" srcId="{A9FADE16-7452-436F-B998-EFD4A28346B6}" destId="{FD36365C-BDB0-477E-87AB-4C628554C17C}" srcOrd="0" destOrd="0" presId="urn:microsoft.com/office/officeart/2018/2/layout/IconLabelList"/>
    <dgm:cxn modelId="{21733BA0-BF3A-4366-8208-8F64DFAD2AB5}" type="presParOf" srcId="{A9FADE16-7452-436F-B998-EFD4A28346B6}" destId="{6E492AD7-95D6-42C1-80FA-63A78114B425}" srcOrd="1" destOrd="0" presId="urn:microsoft.com/office/officeart/2018/2/layout/IconLabelList"/>
    <dgm:cxn modelId="{26DE7A83-8104-41D9-9133-AF8709E114BB}" type="presParOf" srcId="{A9FADE16-7452-436F-B998-EFD4A28346B6}" destId="{800D6CEA-1C32-49B1-A43E-8449452D7151}" srcOrd="2" destOrd="0" presId="urn:microsoft.com/office/officeart/2018/2/layout/IconLabelList"/>
    <dgm:cxn modelId="{4D9B8D8D-E0D2-453A-9CB8-73E7F65CF69F}" type="presParOf" srcId="{FF04D101-6CB0-43BD-9EB9-30B15ACF8554}" destId="{6B9115D2-87C3-441C-8F42-8E1AB92554C2}" srcOrd="5" destOrd="0" presId="urn:microsoft.com/office/officeart/2018/2/layout/IconLabelList"/>
    <dgm:cxn modelId="{735AC078-2443-4417-8A41-C6E5EC7E0086}" type="presParOf" srcId="{FF04D101-6CB0-43BD-9EB9-30B15ACF8554}" destId="{3D4392F9-D192-4D54-BCA3-5D4457DCE788}" srcOrd="6" destOrd="0" presId="urn:microsoft.com/office/officeart/2018/2/layout/IconLabelList"/>
    <dgm:cxn modelId="{75E62FE9-8A26-44E5-889E-A676CDC80CFC}" type="presParOf" srcId="{3D4392F9-D192-4D54-BCA3-5D4457DCE788}" destId="{5071BD31-8B6B-473B-9616-55297C71EA8D}" srcOrd="0" destOrd="0" presId="urn:microsoft.com/office/officeart/2018/2/layout/IconLabelList"/>
    <dgm:cxn modelId="{34985176-79CC-4AE1-9454-48B72B53D5C6}" type="presParOf" srcId="{3D4392F9-D192-4D54-BCA3-5D4457DCE788}" destId="{67A2F32E-E2E1-40C0-A64C-9EC8CBF38E32}" srcOrd="1" destOrd="0" presId="urn:microsoft.com/office/officeart/2018/2/layout/IconLabelList"/>
    <dgm:cxn modelId="{5720A216-8B04-4214-8767-3CBD8A6D5122}" type="presParOf" srcId="{3D4392F9-D192-4D54-BCA3-5D4457DCE788}" destId="{400C781C-288D-4AAA-BD9B-2BAE1276C17C}" srcOrd="2" destOrd="0" presId="urn:microsoft.com/office/officeart/2018/2/layout/IconLabelList"/>
    <dgm:cxn modelId="{60A05F64-2EAD-4F22-AF01-658FF8D54ACE}" type="presParOf" srcId="{FF04D101-6CB0-43BD-9EB9-30B15ACF8554}" destId="{39075B1A-A18F-43D1-9624-AAA2E1892B34}" srcOrd="7" destOrd="0" presId="urn:microsoft.com/office/officeart/2018/2/layout/IconLabelList"/>
    <dgm:cxn modelId="{B5C77E48-2834-4AA1-8816-2C62C57D0257}" type="presParOf" srcId="{FF04D101-6CB0-43BD-9EB9-30B15ACF8554}" destId="{F8070203-A22A-421A-92F4-2FA2644EE047}" srcOrd="8" destOrd="0" presId="urn:microsoft.com/office/officeart/2018/2/layout/IconLabelList"/>
    <dgm:cxn modelId="{63D5981A-ACE9-41A3-9141-D6879F48DD21}" type="presParOf" srcId="{F8070203-A22A-421A-92F4-2FA2644EE047}" destId="{6BFA15C1-011C-44D4-9D12-D44B801E7E84}" srcOrd="0" destOrd="0" presId="urn:microsoft.com/office/officeart/2018/2/layout/IconLabelList"/>
    <dgm:cxn modelId="{AB6AABB3-DC69-4EF8-9690-B57F2D52A928}" type="presParOf" srcId="{F8070203-A22A-421A-92F4-2FA2644EE047}" destId="{10067136-6B47-4D31-BFA9-AE69D6D4E501}" srcOrd="1" destOrd="0" presId="urn:microsoft.com/office/officeart/2018/2/layout/IconLabelList"/>
    <dgm:cxn modelId="{190FFB2F-9AA5-48D3-A3DB-1618F2BC9A87}" type="presParOf" srcId="{F8070203-A22A-421A-92F4-2FA2644EE047}" destId="{AF64011D-4A25-4F6C-889D-C8CA41D8184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FA292-D823-48F8-99FA-22ED501F2CA8}">
      <dsp:nvSpPr>
        <dsp:cNvPr id="0" name=""/>
        <dsp:cNvSpPr/>
      </dsp:nvSpPr>
      <dsp:spPr>
        <a:xfrm>
          <a:off x="0" y="3320"/>
          <a:ext cx="4559425" cy="67675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E2FD18-9E10-4F5D-8578-90AA64B574FA}">
      <dsp:nvSpPr>
        <dsp:cNvPr id="0" name=""/>
        <dsp:cNvSpPr/>
      </dsp:nvSpPr>
      <dsp:spPr>
        <a:xfrm>
          <a:off x="204717" y="155589"/>
          <a:ext cx="372577" cy="3722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8901C5-04C9-44DE-AFC3-A1E50F8A04F1}">
      <dsp:nvSpPr>
        <dsp:cNvPr id="0" name=""/>
        <dsp:cNvSpPr/>
      </dsp:nvSpPr>
      <dsp:spPr>
        <a:xfrm>
          <a:off x="782013" y="3320"/>
          <a:ext cx="3389958" cy="677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693" tIns="71693" rIns="71693" bIns="71693" numCol="1" spcCol="1270" anchor="ctr" anchorCtr="0">
          <a:noAutofit/>
        </a:bodyPr>
        <a:lstStyle/>
        <a:p>
          <a:pPr marL="0" lvl="0" indent="0" algn="l" defTabSz="622300">
            <a:lnSpc>
              <a:spcPct val="100000"/>
            </a:lnSpc>
            <a:spcBef>
              <a:spcPct val="0"/>
            </a:spcBef>
            <a:spcAft>
              <a:spcPct val="35000"/>
            </a:spcAft>
            <a:buNone/>
          </a:pPr>
          <a:r>
            <a:rPr lang="en-US" sz="1400" b="1" kern="1200" dirty="0"/>
            <a:t>Date-time conversion: </a:t>
          </a:r>
          <a:r>
            <a:rPr lang="en-US" sz="1400" kern="1200" dirty="0"/>
            <a:t>Change the '</a:t>
          </a:r>
          <a:r>
            <a:rPr lang="en-US" sz="1400" kern="1200" dirty="0" err="1"/>
            <a:t>Obs_Date</a:t>
          </a:r>
          <a:r>
            <a:rPr lang="en-US" sz="1400" kern="1200" dirty="0"/>
            <a:t>' column to datetime format and arrange the </a:t>
          </a:r>
          <a:r>
            <a:rPr lang="en-US" sz="1400" kern="1200" dirty="0" err="1"/>
            <a:t>dataframe</a:t>
          </a:r>
          <a:r>
            <a:rPr lang="en-US" sz="1400" kern="1200" dirty="0"/>
            <a:t> in chronological order.</a:t>
          </a:r>
        </a:p>
      </dsp:txBody>
      <dsp:txXfrm>
        <a:off x="782013" y="3320"/>
        <a:ext cx="3389958" cy="677414"/>
      </dsp:txXfrm>
    </dsp:sp>
    <dsp:sp modelId="{4809756F-8437-42A7-96E9-48F163A8280F}">
      <dsp:nvSpPr>
        <dsp:cNvPr id="0" name=""/>
        <dsp:cNvSpPr/>
      </dsp:nvSpPr>
      <dsp:spPr>
        <a:xfrm>
          <a:off x="0" y="827202"/>
          <a:ext cx="4559425" cy="67675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E03FDF-C0A7-4D3D-8746-D7AD6ABDEEDD}">
      <dsp:nvSpPr>
        <dsp:cNvPr id="0" name=""/>
        <dsp:cNvSpPr/>
      </dsp:nvSpPr>
      <dsp:spPr>
        <a:xfrm>
          <a:off x="204717" y="979472"/>
          <a:ext cx="372577" cy="3722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039FDF-E199-4FA0-AEFF-FC9F6D395148}">
      <dsp:nvSpPr>
        <dsp:cNvPr id="0" name=""/>
        <dsp:cNvSpPr/>
      </dsp:nvSpPr>
      <dsp:spPr>
        <a:xfrm>
          <a:off x="782013" y="827202"/>
          <a:ext cx="3389958" cy="677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693" tIns="71693" rIns="71693" bIns="71693" numCol="1" spcCol="1270" anchor="ctr" anchorCtr="0">
          <a:noAutofit/>
        </a:bodyPr>
        <a:lstStyle/>
        <a:p>
          <a:pPr marL="0" lvl="0" indent="0" algn="l" defTabSz="622300">
            <a:lnSpc>
              <a:spcPct val="100000"/>
            </a:lnSpc>
            <a:spcBef>
              <a:spcPct val="0"/>
            </a:spcBef>
            <a:spcAft>
              <a:spcPct val="35000"/>
            </a:spcAft>
            <a:buNone/>
          </a:pPr>
          <a:r>
            <a:rPr lang="en-US" sz="1400" b="1" kern="1200"/>
            <a:t>AQI column extraction: </a:t>
          </a:r>
          <a:r>
            <a:rPr lang="en-US" sz="1400" kern="1200"/>
            <a:t>Choose the 'AQI' column and transform it into a NumPy array for analysis.</a:t>
          </a:r>
        </a:p>
      </dsp:txBody>
      <dsp:txXfrm>
        <a:off x="782013" y="827202"/>
        <a:ext cx="3389958" cy="677414"/>
      </dsp:txXfrm>
    </dsp:sp>
    <dsp:sp modelId="{D8164AD9-7C9C-48C1-9483-51101F7F48E7}">
      <dsp:nvSpPr>
        <dsp:cNvPr id="0" name=""/>
        <dsp:cNvSpPr/>
      </dsp:nvSpPr>
      <dsp:spPr>
        <a:xfrm>
          <a:off x="0" y="1651085"/>
          <a:ext cx="4559425" cy="67675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0B84D5-C74A-4B0B-8E12-A092345A6261}">
      <dsp:nvSpPr>
        <dsp:cNvPr id="0" name=""/>
        <dsp:cNvSpPr/>
      </dsp:nvSpPr>
      <dsp:spPr>
        <a:xfrm>
          <a:off x="204717" y="1803354"/>
          <a:ext cx="372577" cy="3722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244FC1-A7C1-4328-9826-44B882DC2452}">
      <dsp:nvSpPr>
        <dsp:cNvPr id="0" name=""/>
        <dsp:cNvSpPr/>
      </dsp:nvSpPr>
      <dsp:spPr>
        <a:xfrm>
          <a:off x="782013" y="1651085"/>
          <a:ext cx="3389958" cy="677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693" tIns="71693" rIns="71693" bIns="71693" numCol="1" spcCol="1270" anchor="ctr" anchorCtr="0">
          <a:noAutofit/>
        </a:bodyPr>
        <a:lstStyle/>
        <a:p>
          <a:pPr marL="0" lvl="0" indent="0" algn="l" defTabSz="622300">
            <a:lnSpc>
              <a:spcPct val="100000"/>
            </a:lnSpc>
            <a:spcBef>
              <a:spcPct val="0"/>
            </a:spcBef>
            <a:spcAft>
              <a:spcPct val="35000"/>
            </a:spcAft>
            <a:buNone/>
          </a:pPr>
          <a:r>
            <a:rPr lang="en-US" sz="1400" b="1" kern="1200"/>
            <a:t>AQI data scaling: </a:t>
          </a:r>
          <a:r>
            <a:rPr lang="en-US" sz="1400" kern="1200"/>
            <a:t>Scale the AQI values to a 0–1 range to enhance LSTM training.</a:t>
          </a:r>
        </a:p>
      </dsp:txBody>
      <dsp:txXfrm>
        <a:off x="782013" y="1651085"/>
        <a:ext cx="3389958" cy="677414"/>
      </dsp:txXfrm>
    </dsp:sp>
    <dsp:sp modelId="{3642F5C9-61EF-4F8B-BCF8-4D0EEE4AD373}">
      <dsp:nvSpPr>
        <dsp:cNvPr id="0" name=""/>
        <dsp:cNvSpPr/>
      </dsp:nvSpPr>
      <dsp:spPr>
        <a:xfrm>
          <a:off x="0" y="2474967"/>
          <a:ext cx="4559425" cy="67675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FE95E0-E625-40F7-99AE-D3A37C063DF3}">
      <dsp:nvSpPr>
        <dsp:cNvPr id="0" name=""/>
        <dsp:cNvSpPr/>
      </dsp:nvSpPr>
      <dsp:spPr>
        <a:xfrm>
          <a:off x="204717" y="2627237"/>
          <a:ext cx="372577" cy="3722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0BC8A7-B2A2-47E7-8DE3-E1C3C5DCD108}">
      <dsp:nvSpPr>
        <dsp:cNvPr id="0" name=""/>
        <dsp:cNvSpPr/>
      </dsp:nvSpPr>
      <dsp:spPr>
        <a:xfrm>
          <a:off x="782013" y="2474967"/>
          <a:ext cx="3389958" cy="677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693" tIns="71693" rIns="71693" bIns="71693" numCol="1" spcCol="1270" anchor="ctr" anchorCtr="0">
          <a:noAutofit/>
        </a:bodyPr>
        <a:lstStyle/>
        <a:p>
          <a:pPr marL="0" lvl="0" indent="0" algn="l" defTabSz="622300">
            <a:lnSpc>
              <a:spcPct val="100000"/>
            </a:lnSpc>
            <a:spcBef>
              <a:spcPct val="0"/>
            </a:spcBef>
            <a:spcAft>
              <a:spcPct val="35000"/>
            </a:spcAft>
            <a:buNone/>
          </a:pPr>
          <a:r>
            <a:rPr lang="en-US" sz="1400" b="1" kern="1200" dirty="0"/>
            <a:t>LSTM sequence creation: </a:t>
          </a:r>
          <a:r>
            <a:rPr lang="en-US" sz="1400" kern="1200" dirty="0"/>
            <a:t>Create sliding windows of the previous 30 AQI values as input features and use the subsequent value as the target for LSTM.</a:t>
          </a:r>
        </a:p>
      </dsp:txBody>
      <dsp:txXfrm>
        <a:off x="782013" y="2474967"/>
        <a:ext cx="3389958" cy="677414"/>
      </dsp:txXfrm>
    </dsp:sp>
    <dsp:sp modelId="{396C58EF-60E9-4E43-88CE-AA85AE26F7DC}">
      <dsp:nvSpPr>
        <dsp:cNvPr id="0" name=""/>
        <dsp:cNvSpPr/>
      </dsp:nvSpPr>
      <dsp:spPr>
        <a:xfrm>
          <a:off x="0" y="3298850"/>
          <a:ext cx="4559425" cy="67675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CCD73F-12C3-437E-A923-D2634A90A872}">
      <dsp:nvSpPr>
        <dsp:cNvPr id="0" name=""/>
        <dsp:cNvSpPr/>
      </dsp:nvSpPr>
      <dsp:spPr>
        <a:xfrm>
          <a:off x="204717" y="3451119"/>
          <a:ext cx="372577" cy="3722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D934FA-0080-4EDB-A6D3-12B1AAD3C6B9}">
      <dsp:nvSpPr>
        <dsp:cNvPr id="0" name=""/>
        <dsp:cNvSpPr/>
      </dsp:nvSpPr>
      <dsp:spPr>
        <a:xfrm>
          <a:off x="782013" y="3298850"/>
          <a:ext cx="3389958" cy="677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693" tIns="71693" rIns="71693" bIns="71693" numCol="1" spcCol="1270" anchor="ctr" anchorCtr="0">
          <a:noAutofit/>
        </a:bodyPr>
        <a:lstStyle/>
        <a:p>
          <a:pPr marL="0" lvl="0" indent="0" algn="l" defTabSz="622300">
            <a:lnSpc>
              <a:spcPct val="100000"/>
            </a:lnSpc>
            <a:spcBef>
              <a:spcPct val="0"/>
            </a:spcBef>
            <a:spcAft>
              <a:spcPct val="35000"/>
            </a:spcAft>
            <a:buNone/>
          </a:pPr>
          <a:r>
            <a:rPr lang="en-US" sz="1400" b="1" kern="1200"/>
            <a:t>Data reshaping: </a:t>
          </a:r>
          <a:r>
            <a:rPr lang="en-US" sz="1400" kern="1200"/>
            <a:t>Reshape the input data to 3D format [samples, time_steps, features] required by LSTM layers.</a:t>
          </a:r>
        </a:p>
      </dsp:txBody>
      <dsp:txXfrm>
        <a:off x="782013" y="3298850"/>
        <a:ext cx="3389958" cy="6774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B9C3-3EE8-4C47-BA24-FE3C92F8BEE6}">
      <dsp:nvSpPr>
        <dsp:cNvPr id="0" name=""/>
        <dsp:cNvSpPr/>
      </dsp:nvSpPr>
      <dsp:spPr>
        <a:xfrm>
          <a:off x="622800" y="36355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69712B-A94C-413A-85DB-821DF189746F}">
      <dsp:nvSpPr>
        <dsp:cNvPr id="0" name=""/>
        <dsp:cNvSpPr/>
      </dsp:nvSpPr>
      <dsp:spPr>
        <a:xfrm>
          <a:off x="127800" y="1568507"/>
          <a:ext cx="1800000" cy="1425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t>Logistic Regression: </a:t>
          </a:r>
        </a:p>
        <a:p>
          <a:pPr marL="0" lvl="0" indent="0" algn="ctr" defTabSz="488950">
            <a:lnSpc>
              <a:spcPct val="100000"/>
            </a:lnSpc>
            <a:spcBef>
              <a:spcPct val="0"/>
            </a:spcBef>
            <a:spcAft>
              <a:spcPct val="35000"/>
            </a:spcAft>
            <a:buNone/>
          </a:pPr>
          <a:r>
            <a:rPr lang="en-US" sz="1100" kern="1200" dirty="0"/>
            <a:t>A linear model that forecasts probabilities for distinct categories employing a logistic function.</a:t>
          </a:r>
          <a:br>
            <a:rPr lang="en-US" sz="1100" kern="1200" dirty="0"/>
          </a:br>
          <a:endParaRPr lang="en-US" sz="1100" kern="1200" dirty="0"/>
        </a:p>
      </dsp:txBody>
      <dsp:txXfrm>
        <a:off x="127800" y="1568507"/>
        <a:ext cx="1800000" cy="1425498"/>
      </dsp:txXfrm>
    </dsp:sp>
    <dsp:sp modelId="{5B39E6FF-39C7-4FDD-8199-8EBEDE8FE9C4}">
      <dsp:nvSpPr>
        <dsp:cNvPr id="0" name=""/>
        <dsp:cNvSpPr/>
      </dsp:nvSpPr>
      <dsp:spPr>
        <a:xfrm>
          <a:off x="2737800" y="36355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ECB6A2-7060-4B98-9587-323A4007CDE6}">
      <dsp:nvSpPr>
        <dsp:cNvPr id="0" name=""/>
        <dsp:cNvSpPr/>
      </dsp:nvSpPr>
      <dsp:spPr>
        <a:xfrm>
          <a:off x="2242800" y="1568507"/>
          <a:ext cx="1800000" cy="1425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t>Random Forest: </a:t>
          </a:r>
        </a:p>
        <a:p>
          <a:pPr marL="0" lvl="0" indent="0" algn="ctr" defTabSz="488950">
            <a:lnSpc>
              <a:spcPct val="100000"/>
            </a:lnSpc>
            <a:spcBef>
              <a:spcPct val="0"/>
            </a:spcBef>
            <a:spcAft>
              <a:spcPct val="35000"/>
            </a:spcAft>
            <a:buNone/>
          </a:pPr>
          <a:r>
            <a:rPr lang="en-US" sz="1100" kern="1200" dirty="0"/>
            <a:t>A collection of decision trees that enhances accuracy through the averaging of various tree predictions.</a:t>
          </a:r>
          <a:br>
            <a:rPr lang="en-US" sz="1100" kern="1200" dirty="0"/>
          </a:br>
          <a:endParaRPr lang="en-US" sz="1100" kern="1200" dirty="0"/>
        </a:p>
      </dsp:txBody>
      <dsp:txXfrm>
        <a:off x="2242800" y="1568507"/>
        <a:ext cx="1800000" cy="1425498"/>
      </dsp:txXfrm>
    </dsp:sp>
    <dsp:sp modelId="{FD36365C-BDB0-477E-87AB-4C628554C17C}">
      <dsp:nvSpPr>
        <dsp:cNvPr id="0" name=""/>
        <dsp:cNvSpPr/>
      </dsp:nvSpPr>
      <dsp:spPr>
        <a:xfrm>
          <a:off x="4852800" y="36355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0D6CEA-1C32-49B1-A43E-8449452D7151}">
      <dsp:nvSpPr>
        <dsp:cNvPr id="0" name=""/>
        <dsp:cNvSpPr/>
      </dsp:nvSpPr>
      <dsp:spPr>
        <a:xfrm>
          <a:off x="4357800" y="1568507"/>
          <a:ext cx="1800000" cy="1425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dirty="0"/>
            <a:t>Light Gradient Boosting Machine</a:t>
          </a:r>
          <a:r>
            <a:rPr lang="en-US" sz="1100" b="1" kern="1200" dirty="0"/>
            <a:t>: </a:t>
          </a:r>
        </a:p>
        <a:p>
          <a:pPr marL="0" lvl="0" indent="0" algn="ctr" defTabSz="488950">
            <a:lnSpc>
              <a:spcPct val="100000"/>
            </a:lnSpc>
            <a:spcBef>
              <a:spcPct val="0"/>
            </a:spcBef>
            <a:spcAft>
              <a:spcPct val="35000"/>
            </a:spcAft>
            <a:buNone/>
          </a:pPr>
          <a:r>
            <a:rPr lang="en-US" sz="1100" kern="1200" dirty="0"/>
            <a:t>A fast gradient boosting algorithm that grows trees leaf-wise to reduce errors from previous trees and handle large datasets efficiently.</a:t>
          </a:r>
        </a:p>
      </dsp:txBody>
      <dsp:txXfrm>
        <a:off x="4357800" y="1568507"/>
        <a:ext cx="1800000" cy="1425498"/>
      </dsp:txXfrm>
    </dsp:sp>
    <dsp:sp modelId="{5071BD31-8B6B-473B-9616-55297C71EA8D}">
      <dsp:nvSpPr>
        <dsp:cNvPr id="0" name=""/>
        <dsp:cNvSpPr/>
      </dsp:nvSpPr>
      <dsp:spPr>
        <a:xfrm>
          <a:off x="6967800" y="36355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0C781C-288D-4AAA-BD9B-2BAE1276C17C}">
      <dsp:nvSpPr>
        <dsp:cNvPr id="0" name=""/>
        <dsp:cNvSpPr/>
      </dsp:nvSpPr>
      <dsp:spPr>
        <a:xfrm>
          <a:off x="6472800" y="1568507"/>
          <a:ext cx="1800000" cy="1425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t>KNN (K-Nearest Neighbors):</a:t>
          </a:r>
        </a:p>
        <a:p>
          <a:pPr marL="0" lvl="0" indent="0" algn="ctr" defTabSz="488950">
            <a:lnSpc>
              <a:spcPct val="100000"/>
            </a:lnSpc>
            <a:spcBef>
              <a:spcPct val="0"/>
            </a:spcBef>
            <a:spcAft>
              <a:spcPct val="35000"/>
            </a:spcAft>
            <a:buNone/>
          </a:pPr>
          <a:r>
            <a:rPr lang="en-US" sz="1100" kern="1200" dirty="0"/>
            <a:t>A non-parametric technique that categorizes based on the predominant class among nearby neighbors.</a:t>
          </a:r>
          <a:br>
            <a:rPr lang="en-US" sz="1100" kern="1200" dirty="0"/>
          </a:br>
          <a:endParaRPr lang="en-US" sz="1100" kern="1200" dirty="0"/>
        </a:p>
      </dsp:txBody>
      <dsp:txXfrm>
        <a:off x="6472800" y="1568507"/>
        <a:ext cx="1800000" cy="1425498"/>
      </dsp:txXfrm>
    </dsp:sp>
    <dsp:sp modelId="{6BFA15C1-011C-44D4-9D12-D44B801E7E84}">
      <dsp:nvSpPr>
        <dsp:cNvPr id="0" name=""/>
        <dsp:cNvSpPr/>
      </dsp:nvSpPr>
      <dsp:spPr>
        <a:xfrm>
          <a:off x="9082800" y="36355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64011D-4A25-4F6C-889D-C8CA41D8184E}">
      <dsp:nvSpPr>
        <dsp:cNvPr id="0" name=""/>
        <dsp:cNvSpPr/>
      </dsp:nvSpPr>
      <dsp:spPr>
        <a:xfrm>
          <a:off x="8587800" y="1568507"/>
          <a:ext cx="1800000" cy="1425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SVC (Support Vector Classifier): </a:t>
          </a:r>
        </a:p>
        <a:p>
          <a:pPr marL="0" lvl="0" indent="0" algn="ctr" defTabSz="488950">
            <a:lnSpc>
              <a:spcPct val="100000"/>
            </a:lnSpc>
            <a:spcBef>
              <a:spcPct val="0"/>
            </a:spcBef>
            <a:spcAft>
              <a:spcPct val="35000"/>
            </a:spcAft>
            <a:buNone/>
          </a:pPr>
          <a:r>
            <a:rPr lang="en-US" sz="1100" kern="1200"/>
            <a:t>Identifies the best hyperplane that distinguishes classes and can represent non-linear boundaries using kernels</a:t>
          </a:r>
          <a:endParaRPr lang="en-US" sz="1100" kern="1200" dirty="0"/>
        </a:p>
      </dsp:txBody>
      <dsp:txXfrm>
        <a:off x="8587800" y="1568507"/>
        <a:ext cx="1800000" cy="142549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BA33D-553A-4353-879F-FF8B31B967CE}"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95EA18-38D9-45F1-83BE-82CC8F764BAC}" type="slidenum">
              <a:rPr lang="en-US" smtClean="0"/>
              <a:t>‹#›</a:t>
            </a:fld>
            <a:endParaRPr lang="en-US"/>
          </a:p>
        </p:txBody>
      </p:sp>
    </p:spTree>
    <p:extLst>
      <p:ext uri="{BB962C8B-B14F-4D97-AF65-F5344CB8AC3E}">
        <p14:creationId xmlns:p14="http://schemas.microsoft.com/office/powerpoint/2010/main" val="408803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95EA18-38D9-45F1-83BE-82CC8F764BAC}" type="slidenum">
              <a:rPr lang="en-US" smtClean="0"/>
              <a:t>2</a:t>
            </a:fld>
            <a:endParaRPr lang="en-US"/>
          </a:p>
        </p:txBody>
      </p:sp>
    </p:spTree>
    <p:extLst>
      <p:ext uri="{BB962C8B-B14F-4D97-AF65-F5344CB8AC3E}">
        <p14:creationId xmlns:p14="http://schemas.microsoft.com/office/powerpoint/2010/main" val="744264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D40AD-8809-B27C-DA59-613DA465E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56B40-FF5F-5ACF-5E3C-C2B64AB4E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78BD7-4B6E-706F-047F-A3E469D7BD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2286BE-0B4B-1EEC-BAED-6584F38D9446}"/>
              </a:ext>
            </a:extLst>
          </p:cNvPr>
          <p:cNvSpPr>
            <a:spLocks noGrp="1"/>
          </p:cNvSpPr>
          <p:nvPr>
            <p:ph type="sldNum" sz="quarter" idx="5"/>
          </p:nvPr>
        </p:nvSpPr>
        <p:spPr/>
        <p:txBody>
          <a:bodyPr/>
          <a:lstStyle/>
          <a:p>
            <a:fld id="{8795EA18-38D9-45F1-83BE-82CC8F764BAC}" type="slidenum">
              <a:rPr lang="en-US" smtClean="0"/>
              <a:t>3</a:t>
            </a:fld>
            <a:endParaRPr lang="en-US"/>
          </a:p>
        </p:txBody>
      </p:sp>
    </p:spTree>
    <p:extLst>
      <p:ext uri="{BB962C8B-B14F-4D97-AF65-F5344CB8AC3E}">
        <p14:creationId xmlns:p14="http://schemas.microsoft.com/office/powerpoint/2010/main" val="3341892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6325F-FD0C-A1B1-AB3C-FD7E00D56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C6780-0057-BE5E-2F6C-16191805F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39411-72AF-3490-F235-4B41DCEF2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4CDE82-FBEB-3F24-C1EE-8F65C877AFF9}"/>
              </a:ext>
            </a:extLst>
          </p:cNvPr>
          <p:cNvSpPr>
            <a:spLocks noGrp="1"/>
          </p:cNvSpPr>
          <p:nvPr>
            <p:ph type="sldNum" sz="quarter" idx="5"/>
          </p:nvPr>
        </p:nvSpPr>
        <p:spPr/>
        <p:txBody>
          <a:bodyPr/>
          <a:lstStyle/>
          <a:p>
            <a:fld id="{8795EA18-38D9-45F1-83BE-82CC8F764BAC}" type="slidenum">
              <a:rPr lang="en-US" smtClean="0"/>
              <a:t>4</a:t>
            </a:fld>
            <a:endParaRPr lang="en-US"/>
          </a:p>
        </p:txBody>
      </p:sp>
    </p:spTree>
    <p:extLst>
      <p:ext uri="{BB962C8B-B14F-4D97-AF65-F5344CB8AC3E}">
        <p14:creationId xmlns:p14="http://schemas.microsoft.com/office/powerpoint/2010/main" val="1545681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95EA18-38D9-45F1-83BE-82CC8F764BAC}" type="slidenum">
              <a:rPr lang="en-US" smtClean="0"/>
              <a:t>9</a:t>
            </a:fld>
            <a:endParaRPr lang="en-US"/>
          </a:p>
        </p:txBody>
      </p:sp>
    </p:spTree>
    <p:extLst>
      <p:ext uri="{BB962C8B-B14F-4D97-AF65-F5344CB8AC3E}">
        <p14:creationId xmlns:p14="http://schemas.microsoft.com/office/powerpoint/2010/main" val="18721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95EA18-38D9-45F1-83BE-82CC8F764BAC}" type="slidenum">
              <a:rPr lang="en-US" smtClean="0"/>
              <a:t>11</a:t>
            </a:fld>
            <a:endParaRPr lang="en-US"/>
          </a:p>
        </p:txBody>
      </p:sp>
    </p:spTree>
    <p:extLst>
      <p:ext uri="{BB962C8B-B14F-4D97-AF65-F5344CB8AC3E}">
        <p14:creationId xmlns:p14="http://schemas.microsoft.com/office/powerpoint/2010/main" val="3705856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FEDB1-6797-E3D3-10B7-52A79E8FD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D1699-4494-0B3F-8A52-E666F0A62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88793-EE39-40EA-E893-5B8260C51F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9FB72-2815-2861-5103-4C6A637A995A}"/>
              </a:ext>
            </a:extLst>
          </p:cNvPr>
          <p:cNvSpPr>
            <a:spLocks noGrp="1"/>
          </p:cNvSpPr>
          <p:nvPr>
            <p:ph type="sldNum" sz="quarter" idx="5"/>
          </p:nvPr>
        </p:nvSpPr>
        <p:spPr/>
        <p:txBody>
          <a:bodyPr/>
          <a:lstStyle/>
          <a:p>
            <a:fld id="{8795EA18-38D9-45F1-83BE-82CC8F764BAC}" type="slidenum">
              <a:rPr lang="en-US" smtClean="0"/>
              <a:t>12</a:t>
            </a:fld>
            <a:endParaRPr lang="en-US"/>
          </a:p>
        </p:txBody>
      </p:sp>
    </p:spTree>
    <p:extLst>
      <p:ext uri="{BB962C8B-B14F-4D97-AF65-F5344CB8AC3E}">
        <p14:creationId xmlns:p14="http://schemas.microsoft.com/office/powerpoint/2010/main" val="2473684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95EA18-38D9-45F1-83BE-82CC8F764BAC}" type="slidenum">
              <a:rPr lang="en-US" smtClean="0"/>
              <a:t>22</a:t>
            </a:fld>
            <a:endParaRPr lang="en-US"/>
          </a:p>
        </p:txBody>
      </p:sp>
    </p:spTree>
    <p:extLst>
      <p:ext uri="{BB962C8B-B14F-4D97-AF65-F5344CB8AC3E}">
        <p14:creationId xmlns:p14="http://schemas.microsoft.com/office/powerpoint/2010/main" val="4240546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FA853-046B-751A-ED0E-4967F15A0D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6C9D21-3569-0D76-7E99-8A6F3857E0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9D620F-38AC-985C-54A1-3140935B63BF}"/>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5" name="Footer Placeholder 4">
            <a:extLst>
              <a:ext uri="{FF2B5EF4-FFF2-40B4-BE49-F238E27FC236}">
                <a16:creationId xmlns:a16="http://schemas.microsoft.com/office/drawing/2014/main" id="{73FFC1EB-E7B2-A444-92E4-FB09D4873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9F5A1-6A10-BD78-599A-83D6048B47CE}"/>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1164127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0D4F-D00E-D6A8-7C58-ED28B756E8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426574-7F73-F8F0-F2F8-576655E785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A3632-0552-8196-653B-0E63E7370557}"/>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5" name="Footer Placeholder 4">
            <a:extLst>
              <a:ext uri="{FF2B5EF4-FFF2-40B4-BE49-F238E27FC236}">
                <a16:creationId xmlns:a16="http://schemas.microsoft.com/office/drawing/2014/main" id="{DAE84AFE-4409-1622-D41C-2D4792B573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A2B07-5E9F-2D1E-419D-08D77357E194}"/>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69958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E99F3-28D7-8D65-DBFC-CC79B0F5FD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2CF789-04B4-CB7B-A1AC-41C1E0E6D1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8AE24F-61E3-6ADC-1569-3BC0E05F5BF5}"/>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5" name="Footer Placeholder 4">
            <a:extLst>
              <a:ext uri="{FF2B5EF4-FFF2-40B4-BE49-F238E27FC236}">
                <a16:creationId xmlns:a16="http://schemas.microsoft.com/office/drawing/2014/main" id="{F4159A6A-999C-6E50-11CF-79D523A9A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4C522-323C-9AB7-2983-5B793F7E599A}"/>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920540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AA47-DFEE-2424-264B-C35785F313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24EC97-83D3-DD5F-232E-94F1C1C6E5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8EC9F9-544E-E58A-8AE6-5C1EB09C42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1A6EFB-6F1F-D22C-3532-A7462C756D24}"/>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6" name="Footer Placeholder 5">
            <a:extLst>
              <a:ext uri="{FF2B5EF4-FFF2-40B4-BE49-F238E27FC236}">
                <a16:creationId xmlns:a16="http://schemas.microsoft.com/office/drawing/2014/main" id="{D331EDD6-EF45-A436-4625-BA33C2879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BB8CA6-057B-15F8-B167-F414AB3DF463}"/>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073565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5C93-C4DA-DA3A-D60B-D6CD4B6FF2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0D3850-ED96-23AC-30A8-11AD426997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99FFAF-E6B5-6515-6707-89CDA021CB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2D2BD9-D668-3A9A-20DD-7A17634FBA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587C8D-CF15-4DCD-C7B7-E60688511D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B34F7-422A-FE41-2FD7-1E74BE5FB854}"/>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8" name="Footer Placeholder 7">
            <a:extLst>
              <a:ext uri="{FF2B5EF4-FFF2-40B4-BE49-F238E27FC236}">
                <a16:creationId xmlns:a16="http://schemas.microsoft.com/office/drawing/2014/main" id="{FA151643-7199-0AFD-F8CA-D01C76B003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62B12C-D269-D2B9-3F7D-8F3FB906670E}"/>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13242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AC02E-692F-4B6F-FB3F-5672135F98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7FBEAF-233B-8A0D-0C1C-7664329C6F07}"/>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4" name="Footer Placeholder 3">
            <a:extLst>
              <a:ext uri="{FF2B5EF4-FFF2-40B4-BE49-F238E27FC236}">
                <a16:creationId xmlns:a16="http://schemas.microsoft.com/office/drawing/2014/main" id="{066AB724-958A-D962-F022-05D00EC694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3E874-8768-E305-6E9C-3EC36E07A0F5}"/>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884663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7F478B-D424-EDFA-A798-69C6571B26BA}"/>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3" name="Footer Placeholder 2">
            <a:extLst>
              <a:ext uri="{FF2B5EF4-FFF2-40B4-BE49-F238E27FC236}">
                <a16:creationId xmlns:a16="http://schemas.microsoft.com/office/drawing/2014/main" id="{AAD8E3B7-947B-356C-2468-8F7F026343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BB3B4B-FB85-1508-C51D-4DE07AADA0AA}"/>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140367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1AE43-8517-C2D3-48DA-9BE23F31E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874CB4-8430-0FA8-9E79-C6D7770B7A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B660E0-A5D7-1F06-7A2F-5E2231A83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E116A-C728-C356-4758-512893B28F8C}"/>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6" name="Footer Placeholder 5">
            <a:extLst>
              <a:ext uri="{FF2B5EF4-FFF2-40B4-BE49-F238E27FC236}">
                <a16:creationId xmlns:a16="http://schemas.microsoft.com/office/drawing/2014/main" id="{4007D620-4F65-FBE8-C0BD-A6E57AC654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AB39BF-B0FE-3603-7054-A422A82E9D34}"/>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1687250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A604-EF86-5829-166B-6C21B26D7A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D320C7-1876-A40E-5FD6-F1F15BB40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530EBA-D113-9B83-1778-A3C5C74DD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26456-E27A-BE12-A30A-619A6074C2BE}"/>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6" name="Footer Placeholder 5">
            <a:extLst>
              <a:ext uri="{FF2B5EF4-FFF2-40B4-BE49-F238E27FC236}">
                <a16:creationId xmlns:a16="http://schemas.microsoft.com/office/drawing/2014/main" id="{EDC8EFDB-37D8-FA38-57D6-2296522F07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CF00F2-1A2A-0C57-389B-FDD7E8660D59}"/>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4081791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903B-BFEF-44A9-56CE-9E9D96E343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0A2954-8B30-3AA2-BD54-9B31DFF40E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88FD7B-0116-01B7-4EFA-921CDEBD1AFD}"/>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5" name="Footer Placeholder 4">
            <a:extLst>
              <a:ext uri="{FF2B5EF4-FFF2-40B4-BE49-F238E27FC236}">
                <a16:creationId xmlns:a16="http://schemas.microsoft.com/office/drawing/2014/main" id="{C6B10D42-62BA-EC49-A5C4-5D0F3DD1A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88AFF-8B2F-29B0-0399-A1A73DECEAE3}"/>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366672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7909A6-9947-43FE-B8D2-AF2AF95FFF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086D67-975C-243E-B2B7-6DF703A32A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B2BC92-AC75-D87E-D3C3-3F5AD8340DFD}"/>
              </a:ext>
            </a:extLst>
          </p:cNvPr>
          <p:cNvSpPr>
            <a:spLocks noGrp="1"/>
          </p:cNvSpPr>
          <p:nvPr>
            <p:ph type="dt" sz="half" idx="10"/>
          </p:nvPr>
        </p:nvSpPr>
        <p:spPr/>
        <p:txBody>
          <a:bodyPr/>
          <a:lstStyle/>
          <a:p>
            <a:fld id="{990ECB86-1029-457B-ADD0-3B72F1CA9B9F}" type="datetimeFigureOut">
              <a:rPr lang="en-US" smtClean="0"/>
              <a:t>5/18/2026</a:t>
            </a:fld>
            <a:endParaRPr lang="en-US"/>
          </a:p>
        </p:txBody>
      </p:sp>
      <p:sp>
        <p:nvSpPr>
          <p:cNvPr id="5" name="Footer Placeholder 4">
            <a:extLst>
              <a:ext uri="{FF2B5EF4-FFF2-40B4-BE49-F238E27FC236}">
                <a16:creationId xmlns:a16="http://schemas.microsoft.com/office/drawing/2014/main" id="{3AAD0738-B76B-1C48-E4EA-0F97DB23A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F3424-6E49-6E69-46E4-F43CE0C45CAF}"/>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371818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8CD4C6-31F4-F7ED-481C-C6D1C78104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719A93-B5DA-01D1-DDF8-5D44C1488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4AFE14-43FB-E273-2C53-ADC471AF0C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0ECB86-1029-457B-ADD0-3B72F1CA9B9F}" type="datetimeFigureOut">
              <a:rPr lang="en-US" smtClean="0"/>
              <a:t>5/18/2026</a:t>
            </a:fld>
            <a:endParaRPr lang="en-US"/>
          </a:p>
        </p:txBody>
      </p:sp>
      <p:sp>
        <p:nvSpPr>
          <p:cNvPr id="5" name="Footer Placeholder 4">
            <a:extLst>
              <a:ext uri="{FF2B5EF4-FFF2-40B4-BE49-F238E27FC236}">
                <a16:creationId xmlns:a16="http://schemas.microsoft.com/office/drawing/2014/main" id="{7A27A075-F9F1-7E38-686C-BEF4416D6A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B68495-B8D5-04D8-0621-B3A5DFFED2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53FDBB-7FCD-4BA1-B771-B648D3CDEFFA}" type="slidenum">
              <a:rPr lang="en-US" smtClean="0"/>
              <a:t>‹#›</a:t>
            </a:fld>
            <a:endParaRPr lang="en-US"/>
          </a:p>
        </p:txBody>
      </p:sp>
    </p:spTree>
    <p:extLst>
      <p:ext uri="{BB962C8B-B14F-4D97-AF65-F5344CB8AC3E}">
        <p14:creationId xmlns:p14="http://schemas.microsoft.com/office/powerpoint/2010/main" val="3474490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NafeesKhandker/Forecasting-and-Classifying-Air-Quality-in-NYC-A-Data-Driven-Approach---1980-2025"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qs.epa.gov/aqsweb/airdata/download_files.html?file=daily_aqi_by_county_2023.csv.zip#AQI"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epa.gov/wildfire-smoke-course/communicating-air-quality-conditions-air-quality-index"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health.state.ny.us/press/releases/2023/2023-08-24_study_asthma_related_er_visits.htm" TargetMode="External"/><Relationship Id="rId2" Type="http://schemas.openxmlformats.org/officeDocument/2006/relationships/image" Target="../media/image12.sv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iqair.com/us/usa/new-york/new-york"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7" name="Rectangle 8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B1032-0C09-17F4-FF8D-AA8B8093B18B}"/>
              </a:ext>
            </a:extLst>
          </p:cNvPr>
          <p:cNvSpPr>
            <a:spLocks noGrp="1"/>
          </p:cNvSpPr>
          <p:nvPr>
            <p:ph type="ctrTitle"/>
          </p:nvPr>
        </p:nvSpPr>
        <p:spPr>
          <a:xfrm>
            <a:off x="638882" y="640080"/>
            <a:ext cx="5550408" cy="3573516"/>
          </a:xfrm>
        </p:spPr>
        <p:txBody>
          <a:bodyPr>
            <a:normAutofit/>
          </a:bodyPr>
          <a:lstStyle/>
          <a:p>
            <a:pPr algn="l"/>
            <a:r>
              <a:rPr lang="en-US" sz="3600" b="1" dirty="0"/>
              <a:t>Forecasting and Classifying Air Quality in NYC: A Data-Driven Approach (1980–2025)</a:t>
            </a:r>
          </a:p>
        </p:txBody>
      </p:sp>
      <p:sp>
        <p:nvSpPr>
          <p:cNvPr id="3" name="Subtitle 2">
            <a:extLst>
              <a:ext uri="{FF2B5EF4-FFF2-40B4-BE49-F238E27FC236}">
                <a16:creationId xmlns:a16="http://schemas.microsoft.com/office/drawing/2014/main" id="{CEAD24FC-DE6C-1934-EC4C-FC0092733EDA}"/>
              </a:ext>
            </a:extLst>
          </p:cNvPr>
          <p:cNvSpPr>
            <a:spLocks noGrp="1"/>
          </p:cNvSpPr>
          <p:nvPr>
            <p:ph type="subTitle" idx="1"/>
          </p:nvPr>
        </p:nvSpPr>
        <p:spPr>
          <a:xfrm>
            <a:off x="638881" y="4631161"/>
            <a:ext cx="4508153" cy="1559327"/>
          </a:xfrm>
        </p:spPr>
        <p:txBody>
          <a:bodyPr>
            <a:normAutofit/>
          </a:bodyPr>
          <a:lstStyle/>
          <a:p>
            <a:pPr algn="l"/>
            <a:r>
              <a:rPr lang="en-US" dirty="0"/>
              <a:t>Khandker M Qaiduzzaman</a:t>
            </a:r>
          </a:p>
        </p:txBody>
      </p:sp>
      <p:sp>
        <p:nvSpPr>
          <p:cNvPr id="8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Graphic 88" descr="Statistics">
            <a:extLst>
              <a:ext uri="{FF2B5EF4-FFF2-40B4-BE49-F238E27FC236}">
                <a16:creationId xmlns:a16="http://schemas.microsoft.com/office/drawing/2014/main" id="{F1ACB2EC-1D86-53C5-C772-96F6439C67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86400" y="640080"/>
            <a:ext cx="5550408" cy="5550408"/>
          </a:xfrm>
          <a:prstGeom prst="rect">
            <a:avLst/>
          </a:prstGeom>
        </p:spPr>
      </p:pic>
    </p:spTree>
    <p:extLst>
      <p:ext uri="{BB962C8B-B14F-4D97-AF65-F5344CB8AC3E}">
        <p14:creationId xmlns:p14="http://schemas.microsoft.com/office/powerpoint/2010/main" val="95660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89"/>
                                        </p:tgtEl>
                                        <p:attrNameLst>
                                          <p:attrName>style.visibility</p:attrName>
                                        </p:attrNameLst>
                                      </p:cBhvr>
                                      <p:to>
                                        <p:strVal val="visible"/>
                                      </p:to>
                                    </p:set>
                                    <p:animEffect transition="in" filter="fade">
                                      <p:cBhvr>
                                        <p:cTn id="13" dur="7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C36492-4E45-984E-1EAE-29D742859478}"/>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7" name="Rectangle 3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F21A436-0C45-26E3-FA88-CAD3FCC7AA7E}"/>
              </a:ext>
            </a:extLst>
          </p:cNvPr>
          <p:cNvSpPr>
            <a:spLocks noGrp="1"/>
          </p:cNvSpPr>
          <p:nvPr>
            <p:ph type="ctrTitle"/>
          </p:nvPr>
        </p:nvSpPr>
        <p:spPr>
          <a:xfrm>
            <a:off x="1043631" y="809898"/>
            <a:ext cx="9942716" cy="1554480"/>
          </a:xfrm>
        </p:spPr>
        <p:txBody>
          <a:bodyPr vert="horz" lIns="91440" tIns="45720" rIns="91440" bIns="45720" rtlCol="0" anchor="ctr">
            <a:normAutofit/>
          </a:bodyPr>
          <a:lstStyle/>
          <a:p>
            <a:pPr algn="l"/>
            <a:r>
              <a:rPr lang="en-US" sz="4800" b="1" kern="1200" dirty="0">
                <a:solidFill>
                  <a:schemeClr val="tx1"/>
                </a:solidFill>
                <a:latin typeface="+mj-lt"/>
                <a:ea typeface="+mj-ea"/>
                <a:cs typeface="+mj-cs"/>
              </a:rPr>
              <a:t>Abstract</a:t>
            </a:r>
          </a:p>
        </p:txBody>
      </p:sp>
      <p:sp>
        <p:nvSpPr>
          <p:cNvPr id="3" name="Subtitle 2">
            <a:extLst>
              <a:ext uri="{FF2B5EF4-FFF2-40B4-BE49-F238E27FC236}">
                <a16:creationId xmlns:a16="http://schemas.microsoft.com/office/drawing/2014/main" id="{640DF1BE-161C-A2E7-D562-7C844F26BA15}"/>
              </a:ext>
            </a:extLst>
          </p:cNvPr>
          <p:cNvSpPr>
            <a:spLocks noGrp="1"/>
          </p:cNvSpPr>
          <p:nvPr>
            <p:ph type="subTitle" idx="1"/>
          </p:nvPr>
        </p:nvSpPr>
        <p:spPr>
          <a:xfrm>
            <a:off x="1045028" y="2630078"/>
            <a:ext cx="9941319" cy="3855229"/>
          </a:xfrm>
        </p:spPr>
        <p:txBody>
          <a:bodyPr vert="horz" lIns="91440" tIns="45720" rIns="91440" bIns="45720" rtlCol="0" anchor="ctr">
            <a:normAutofit/>
          </a:bodyPr>
          <a:lstStyle/>
          <a:p>
            <a:pPr algn="just"/>
            <a:r>
              <a:rPr lang="en-US" sz="1400" dirty="0"/>
              <a:t>In this project, I analyzed the daily Air Quality Index (AQI) data from the New York City counties (Bronx, Kings, New York, Queens, and Richmond). This study solely focused on the air quality dynamics in New York City counties within the timeline 1980 to 2025. These 45 years of historical data helped identify the long-term trends, seasonal cycles, and anomalies in urban air pollution. This project has employed a deep learning time series model to forecast the future AQI values. Additionally, several machine learning classification algorithms have been implemented to classify the AQI categories- Good, Moderate, Unhealthy for Sensitive Groups, Unhealthy, Very Unhealthy, and Hazardous.</a:t>
            </a:r>
          </a:p>
          <a:p>
            <a:pPr algn="just"/>
            <a:r>
              <a:rPr lang="en-US" sz="1400" dirty="0"/>
              <a:t>This project focused on the most important data science workflows, including the extract, load, and transform (ELT) process, data cleaning, data pre-processing, feature engineering, visualization, exploratory data analysis (EDA), data modeling, and model evaluation. A deep learning model, Long Short-Term Memory (LSTM) networks, was chosen to forecast the future AQI level. The experimental result showed that the LSTM had an MAE score of 8.16, an RMSE score of 11.65, an MAPE score of 28.44% and an R-square score of 0.56, which makes the model decent. For the AQI category classification problem, a comparative analysis was done using Logistic Regression, Random Forest, Light Gradient Boosting Machine (</a:t>
            </a:r>
            <a:r>
              <a:rPr lang="en-US" sz="1400" dirty="0" err="1"/>
              <a:t>LightGBM</a:t>
            </a:r>
            <a:r>
              <a:rPr lang="en-US" sz="1400" dirty="0"/>
              <a:t>), Support Vector Classifier (SVC), and K-Nearest Neighbor (KNN) classifiers. The experimental result showed that tree-based ensemble techniques such as </a:t>
            </a:r>
            <a:r>
              <a:rPr lang="en-US" sz="1400" dirty="0" err="1"/>
              <a:t>LightGBM</a:t>
            </a:r>
            <a:r>
              <a:rPr lang="en-US" sz="1400" dirty="0"/>
              <a:t> and Random Forest performed the best with an F1-score of 59% and 57%, respectively. The non-parametric technique KNN also performed as well as Random Forest (57%). Logistic Regression and SVC underperformed and faced difficulties with complex relationships and class imbalance.</a:t>
            </a:r>
          </a:p>
        </p:txBody>
      </p:sp>
      <p:cxnSp>
        <p:nvCxnSpPr>
          <p:cNvPr id="40" name="Straight Connector 3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039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284AB6-4E5C-8F8B-8B46-A493E0CD8986}"/>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F9506A6-F09A-2426-7537-6C5E07B4E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1F3D57A4-BC0B-20E1-AF71-AA55293015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7" name="Rectangle 36">
              <a:extLst>
                <a:ext uri="{FF2B5EF4-FFF2-40B4-BE49-F238E27FC236}">
                  <a16:creationId xmlns:a16="http://schemas.microsoft.com/office/drawing/2014/main" id="{43961187-E0AA-B118-481D-F7B8385F3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419D3C9-81E1-7F01-878B-541965C2A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6B8F07-AC0A-0063-7B60-09539517D0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E48C83B8-4C31-2F9C-8B80-5B72221D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4E512022-0913-DA93-D911-FD1AFBE6FB2B}"/>
              </a:ext>
            </a:extLst>
          </p:cNvPr>
          <p:cNvSpPr>
            <a:spLocks noGrp="1"/>
          </p:cNvSpPr>
          <p:nvPr>
            <p:ph type="ctrTitle"/>
          </p:nvPr>
        </p:nvSpPr>
        <p:spPr>
          <a:xfrm>
            <a:off x="1043631" y="809898"/>
            <a:ext cx="9942716" cy="1554480"/>
          </a:xfrm>
        </p:spPr>
        <p:txBody>
          <a:bodyPr vert="horz" lIns="91440" tIns="45720" rIns="91440" bIns="45720" rtlCol="0" anchor="ctr">
            <a:normAutofit/>
          </a:bodyPr>
          <a:lstStyle/>
          <a:p>
            <a:pPr algn="l"/>
            <a:r>
              <a:rPr lang="en-US" sz="4800" b="1" kern="1200" dirty="0">
                <a:solidFill>
                  <a:schemeClr val="tx1"/>
                </a:solidFill>
                <a:latin typeface="+mj-lt"/>
                <a:ea typeface="+mj-ea"/>
                <a:cs typeface="+mj-cs"/>
              </a:rPr>
              <a:t>Introduction</a:t>
            </a:r>
          </a:p>
        </p:txBody>
      </p:sp>
      <p:sp>
        <p:nvSpPr>
          <p:cNvPr id="3" name="Subtitle 2">
            <a:extLst>
              <a:ext uri="{FF2B5EF4-FFF2-40B4-BE49-F238E27FC236}">
                <a16:creationId xmlns:a16="http://schemas.microsoft.com/office/drawing/2014/main" id="{67AA8E5F-E61C-04C7-321D-E46953A259BE}"/>
              </a:ext>
            </a:extLst>
          </p:cNvPr>
          <p:cNvSpPr>
            <a:spLocks noGrp="1"/>
          </p:cNvSpPr>
          <p:nvPr>
            <p:ph type="subTitle" idx="1"/>
          </p:nvPr>
        </p:nvSpPr>
        <p:spPr>
          <a:xfrm>
            <a:off x="1045028" y="2508070"/>
            <a:ext cx="9941319" cy="3977240"/>
          </a:xfrm>
        </p:spPr>
        <p:txBody>
          <a:bodyPr vert="horz" lIns="91440" tIns="45720" rIns="91440" bIns="45720" rtlCol="0" anchor="ctr">
            <a:normAutofit/>
          </a:bodyPr>
          <a:lstStyle/>
          <a:p>
            <a:pPr algn="just"/>
            <a:r>
              <a:rPr lang="en-US" sz="1600" dirty="0"/>
              <a:t>Every year, the USA and Canada experience wildfires in summer and fall that affect the air quality. Due to climate change, wildfire seasons are lengthening and becoming more active every year. Additionally, urbanization, industrialization, deforestation, etc., increase air pollution and impose a higher threat to public health. </a:t>
            </a:r>
          </a:p>
          <a:p>
            <a:pPr algn="just"/>
            <a:r>
              <a:rPr lang="en-US" sz="1600" dirty="0"/>
              <a:t>As a data analyst working in the New York State Department of Health, I found this topic relevant to my industry since environmental pollution increases the public health risk, especially among members of sensitive groups. </a:t>
            </a:r>
          </a:p>
          <a:p>
            <a:pPr algn="just"/>
            <a:r>
              <a:rPr lang="en-US" sz="1600" dirty="0"/>
              <a:t>In this project, the following research questions have been addressed to better understand air quality of NYC:</a:t>
            </a:r>
          </a:p>
          <a:p>
            <a:pPr marL="742950" indent="-457200" algn="just">
              <a:buFont typeface="+mj-lt"/>
              <a:buAutoNum type="arabicPeriod"/>
            </a:pPr>
            <a:r>
              <a:rPr lang="en-US" sz="1600" b="1" dirty="0"/>
              <a:t>What was the Air Quality Index (AQI) trends and seasonal pattern across NYC counties from 1980 to 2025?</a:t>
            </a:r>
          </a:p>
          <a:p>
            <a:pPr marL="742950" indent="-457200" algn="just">
              <a:buFont typeface="+mj-lt"/>
              <a:buAutoNum type="arabicPeriod"/>
            </a:pPr>
            <a:r>
              <a:rPr lang="en-US" sz="1600" b="1" dirty="0"/>
              <a:t>Can deep learning time series models forecast future AQI levels accurately?</a:t>
            </a:r>
          </a:p>
          <a:p>
            <a:pPr marL="742950" indent="-457200" algn="just">
              <a:buFont typeface="+mj-lt"/>
              <a:buAutoNum type="arabicPeriod"/>
            </a:pPr>
            <a:r>
              <a:rPr lang="en-US" sz="1600" b="1" dirty="0"/>
              <a:t>Can machine learning techniques predict AQI categories (e.g., Good, Moderate, Unhealthy, etc.) using different features? </a:t>
            </a:r>
          </a:p>
        </p:txBody>
      </p:sp>
      <p:cxnSp>
        <p:nvCxnSpPr>
          <p:cNvPr id="40" name="Straight Connector 39">
            <a:extLst>
              <a:ext uri="{FF2B5EF4-FFF2-40B4-BE49-F238E27FC236}">
                <a16:creationId xmlns:a16="http://schemas.microsoft.com/office/drawing/2014/main" id="{C3EE453A-9BDB-C5D1-FE12-53757FC8B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7437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273DC2-9854-25E1-0580-D5973C0F20F9}"/>
            </a:ext>
          </a:extLst>
        </p:cNvPr>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D2CD408-F3E1-A670-AC92-E587AAEFD5B6}"/>
              </a:ext>
            </a:extLst>
          </p:cNvPr>
          <p:cNvSpPr>
            <a:spLocks noGrp="1"/>
          </p:cNvSpPr>
          <p:nvPr>
            <p:ph type="ctrTitle"/>
          </p:nvPr>
        </p:nvSpPr>
        <p:spPr>
          <a:xfrm>
            <a:off x="645065" y="1463040"/>
            <a:ext cx="3796306" cy="2690949"/>
          </a:xfrm>
        </p:spPr>
        <p:txBody>
          <a:bodyPr vert="horz" lIns="91440" tIns="45720" rIns="91440" bIns="45720" rtlCol="0" anchor="t">
            <a:normAutofit/>
          </a:bodyPr>
          <a:lstStyle/>
          <a:p>
            <a:pPr algn="l"/>
            <a:r>
              <a:rPr lang="en-US" sz="4400" b="1" kern="1200">
                <a:solidFill>
                  <a:schemeClr val="tx1"/>
                </a:solidFill>
                <a:latin typeface="+mj-lt"/>
                <a:ea typeface="+mj-ea"/>
                <a:cs typeface="+mj-cs"/>
              </a:rPr>
              <a:t>Tools &amp; Technologies and Project Code</a:t>
            </a:r>
          </a:p>
        </p:txBody>
      </p:sp>
      <p:grpSp>
        <p:nvGrpSpPr>
          <p:cNvPr id="57" name="Group 56">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58" name="Rectangle 5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51" name="Rectangle 5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36DD478-118C-A3C3-B835-30E129B397B6}"/>
              </a:ext>
            </a:extLst>
          </p:cNvPr>
          <p:cNvSpPr>
            <a:spLocks noGrp="1"/>
          </p:cNvSpPr>
          <p:nvPr>
            <p:ph type="subTitle" idx="1"/>
          </p:nvPr>
        </p:nvSpPr>
        <p:spPr>
          <a:xfrm>
            <a:off x="5656218" y="1463039"/>
            <a:ext cx="5542387" cy="4300447"/>
          </a:xfrm>
        </p:spPr>
        <p:txBody>
          <a:bodyPr vert="horz" lIns="91440" tIns="45720" rIns="91440" bIns="45720" rtlCol="0" anchor="t">
            <a:normAutofit/>
          </a:bodyPr>
          <a:lstStyle/>
          <a:p>
            <a:pPr marL="285750" indent="-228600" algn="l">
              <a:buFont typeface="Arial" panose="020B0604020202020204" pitchFamily="34" charset="0"/>
              <a:buChar char="•"/>
            </a:pPr>
            <a:r>
              <a:rPr lang="en-US" sz="2200" b="1" dirty="0"/>
              <a:t>Python 3.13.5</a:t>
            </a:r>
          </a:p>
          <a:p>
            <a:pPr marL="285750" indent="-228600" algn="l">
              <a:buFont typeface="Arial" panose="020B0604020202020204" pitchFamily="34" charset="0"/>
              <a:buChar char="•"/>
            </a:pPr>
            <a:r>
              <a:rPr lang="en-US" sz="2200" b="1" dirty="0" err="1"/>
              <a:t>Jupyter</a:t>
            </a:r>
            <a:r>
              <a:rPr lang="en-US" sz="2200" b="1" dirty="0"/>
              <a:t> Notebook 7.3.2</a:t>
            </a:r>
          </a:p>
          <a:p>
            <a:pPr marL="285750" indent="-228600" algn="l">
              <a:buFont typeface="Arial" panose="020B0604020202020204" pitchFamily="34" charset="0"/>
              <a:buChar char="•"/>
            </a:pPr>
            <a:r>
              <a:rPr lang="en-US" sz="2200" b="1" dirty="0"/>
              <a:t>My SQL Workbench 8.0 CE</a:t>
            </a:r>
          </a:p>
          <a:p>
            <a:pPr marL="285750" indent="-228600" algn="l">
              <a:buFont typeface="Arial" panose="020B0604020202020204" pitchFamily="34" charset="0"/>
              <a:buChar char="•"/>
            </a:pPr>
            <a:r>
              <a:rPr lang="en-US" sz="2200" b="1" u="sng" dirty="0"/>
              <a:t>Project Code:</a:t>
            </a:r>
            <a:r>
              <a:rPr lang="en-US" sz="2200" dirty="0"/>
              <a:t> The python and SQL codes of this project are available </a:t>
            </a:r>
            <a:r>
              <a:rPr lang="en-US" sz="2200" dirty="0">
                <a:hlinkClick r:id="rId3"/>
              </a:rPr>
              <a:t>here</a:t>
            </a:r>
            <a:r>
              <a:rPr lang="en-US" sz="2200" dirty="0"/>
              <a:t>. The link is also provided in reference section [1]. </a:t>
            </a:r>
          </a:p>
          <a:p>
            <a:pPr marL="285750" indent="-228600" algn="l">
              <a:buFont typeface="Arial" panose="020B0604020202020204" pitchFamily="34" charset="0"/>
              <a:buChar char="•"/>
            </a:pPr>
            <a:endParaRPr lang="en-US" sz="2200" b="1" dirty="0"/>
          </a:p>
        </p:txBody>
      </p:sp>
    </p:spTree>
    <p:extLst>
      <p:ext uri="{BB962C8B-B14F-4D97-AF65-F5344CB8AC3E}">
        <p14:creationId xmlns:p14="http://schemas.microsoft.com/office/powerpoint/2010/main" val="183478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ED58FB-9E03-76AE-F170-872233A02758}"/>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3101019-52FA-217C-E262-151ACBDC9FE4}"/>
              </a:ext>
            </a:extLst>
          </p:cNvPr>
          <p:cNvSpPr>
            <a:spLocks noGrp="1"/>
          </p:cNvSpPr>
          <p:nvPr>
            <p:ph type="ctrTitle"/>
          </p:nvPr>
        </p:nvSpPr>
        <p:spPr>
          <a:xfrm>
            <a:off x="630936" y="640080"/>
            <a:ext cx="4818888" cy="1481328"/>
          </a:xfrm>
        </p:spPr>
        <p:txBody>
          <a:bodyPr vert="horz" lIns="91440" tIns="45720" rIns="91440" bIns="45720" rtlCol="0" anchor="b">
            <a:normAutofit/>
          </a:bodyPr>
          <a:lstStyle/>
          <a:p>
            <a:pPr algn="l"/>
            <a:r>
              <a:rPr lang="en-US" sz="5400" b="1" kern="1200" dirty="0">
                <a:solidFill>
                  <a:schemeClr val="tx1"/>
                </a:solidFill>
                <a:latin typeface="+mj-lt"/>
                <a:ea typeface="+mj-ea"/>
                <a:cs typeface="+mj-cs"/>
              </a:rPr>
              <a:t>Data Wrangling</a:t>
            </a:r>
          </a:p>
        </p:txBody>
      </p:sp>
      <p:sp>
        <p:nvSpPr>
          <p:cNvPr id="3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CDE4BDB-2872-E7FE-8283-72E44C46A1BA}"/>
              </a:ext>
            </a:extLst>
          </p:cNvPr>
          <p:cNvSpPr>
            <a:spLocks noGrp="1"/>
          </p:cNvSpPr>
          <p:nvPr>
            <p:ph type="subTitle" idx="1"/>
          </p:nvPr>
        </p:nvSpPr>
        <p:spPr>
          <a:xfrm>
            <a:off x="653836" y="2692909"/>
            <a:ext cx="4818888" cy="3547872"/>
          </a:xfrm>
        </p:spPr>
        <p:txBody>
          <a:bodyPr vert="horz" lIns="91440" tIns="45720" rIns="91440" bIns="45720" rtlCol="0" anchor="t">
            <a:normAutofit/>
          </a:bodyPr>
          <a:lstStyle/>
          <a:p>
            <a:pPr algn="just"/>
            <a:r>
              <a:rPr lang="en-US" sz="2200" b="1" u="sng" dirty="0"/>
              <a:t>Data Collection:</a:t>
            </a:r>
            <a:r>
              <a:rPr lang="en-US" sz="2200" dirty="0"/>
              <a:t> The dataset has been collected from the United States Environmental Protection Agency (EPA) website. The pre-generated data files are available in CSV format in the following link:</a:t>
            </a:r>
          </a:p>
          <a:p>
            <a:pPr algn="l"/>
            <a:r>
              <a:rPr lang="en-US" sz="2200" dirty="0">
                <a:hlinkClick r:id="rId2"/>
              </a:rPr>
              <a:t>https://aqs.epa.gov/aqsweb/airdata/download_files.html?file=daily_aqi_by_county_2023.csv.zip#AQI</a:t>
            </a:r>
            <a:endParaRPr lang="en-US" sz="2200" dirty="0"/>
          </a:p>
          <a:p>
            <a:pPr algn="l"/>
            <a:endParaRPr lang="en-US" sz="2200" dirty="0"/>
          </a:p>
        </p:txBody>
      </p:sp>
      <p:pic>
        <p:nvPicPr>
          <p:cNvPr id="6" name="Picture 5">
            <a:extLst>
              <a:ext uri="{FF2B5EF4-FFF2-40B4-BE49-F238E27FC236}">
                <a16:creationId xmlns:a16="http://schemas.microsoft.com/office/drawing/2014/main" id="{DD69182E-033A-C514-8C6A-7D64F8C7B622}"/>
              </a:ext>
            </a:extLst>
          </p:cNvPr>
          <p:cNvPicPr>
            <a:picLocks noChangeAspect="1"/>
          </p:cNvPicPr>
          <p:nvPr/>
        </p:nvPicPr>
        <p:blipFill>
          <a:blip r:embed="rId3"/>
          <a:stretch>
            <a:fillRect/>
          </a:stretch>
        </p:blipFill>
        <p:spPr>
          <a:xfrm>
            <a:off x="6590424" y="640080"/>
            <a:ext cx="4476216" cy="5577840"/>
          </a:xfrm>
          <a:prstGeom prst="rect">
            <a:avLst/>
          </a:prstGeom>
        </p:spPr>
      </p:pic>
    </p:spTree>
    <p:extLst>
      <p:ext uri="{BB962C8B-B14F-4D97-AF65-F5344CB8AC3E}">
        <p14:creationId xmlns:p14="http://schemas.microsoft.com/office/powerpoint/2010/main" val="2429491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540948-320B-637C-5CC1-DD84A3FE2273}"/>
            </a:ext>
          </a:extLst>
        </p:cNvPr>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64E743F-33DF-77C2-FC47-9406E09EA9F2}"/>
              </a:ext>
            </a:extLst>
          </p:cNvPr>
          <p:cNvSpPr>
            <a:spLocks noGrp="1"/>
          </p:cNvSpPr>
          <p:nvPr>
            <p:ph type="ctrTitle"/>
          </p:nvPr>
        </p:nvSpPr>
        <p:spPr>
          <a:xfrm>
            <a:off x="629827" y="218338"/>
            <a:ext cx="5796652" cy="737025"/>
          </a:xfrm>
        </p:spPr>
        <p:txBody>
          <a:bodyPr anchor="b">
            <a:normAutofit fontScale="90000"/>
          </a:bodyPr>
          <a:lstStyle/>
          <a:p>
            <a:pPr algn="l"/>
            <a:r>
              <a:rPr lang="en-US" sz="5400" b="1" dirty="0"/>
              <a:t>Data Wrangling</a:t>
            </a:r>
            <a:endParaRPr lang="en-US" sz="5400" b="1" dirty="0">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D62F8EC3-F3EA-7403-0663-C59C2D33383E}"/>
              </a:ext>
            </a:extLst>
          </p:cNvPr>
          <p:cNvSpPr>
            <a:spLocks noGrp="1"/>
          </p:cNvSpPr>
          <p:nvPr>
            <p:ph type="subTitle" idx="1"/>
          </p:nvPr>
        </p:nvSpPr>
        <p:spPr>
          <a:xfrm>
            <a:off x="629827" y="984400"/>
            <a:ext cx="11184169" cy="552659"/>
          </a:xfrm>
        </p:spPr>
        <p:txBody>
          <a:bodyPr anchor="t">
            <a:normAutofit/>
          </a:bodyPr>
          <a:lstStyle/>
          <a:p>
            <a:pPr algn="just"/>
            <a:r>
              <a:rPr lang="en-US" sz="1500" b="1" u="sng" dirty="0">
                <a:latin typeface="Calibri" panose="020F0502020204030204" pitchFamily="34" charset="0"/>
                <a:cs typeface="Calibri" panose="020F0502020204030204" pitchFamily="34" charset="0"/>
              </a:rPr>
              <a:t>ELT Process:</a:t>
            </a:r>
            <a:r>
              <a:rPr lang="en-US" sz="1500" dirty="0">
                <a:latin typeface="Calibri" panose="020F0502020204030204" pitchFamily="34" charset="0"/>
                <a:cs typeface="Calibri" panose="020F0502020204030204" pitchFamily="34" charset="0"/>
              </a:rPr>
              <a:t> Every year the United States Environmental Protection Agency (EPA) publishes the daily AQI data for all states. That is why all the yearly CSV data were inserted in a MySQL database.  </a:t>
            </a:r>
          </a:p>
          <a:p>
            <a:pPr algn="just"/>
            <a:endParaRPr lang="en-US" sz="1500" dirty="0">
              <a:latin typeface="Calibri" panose="020F0502020204030204" pitchFamily="34" charset="0"/>
              <a:cs typeface="Calibri" panose="020F0502020204030204" pitchFamily="34" charset="0"/>
            </a:endParaRPr>
          </a:p>
          <a:p>
            <a:pPr algn="just"/>
            <a:endParaRPr lang="en-US" sz="1500" b="1" u="sng" dirty="0">
              <a:latin typeface="Calibri" panose="020F0502020204030204" pitchFamily="34" charset="0"/>
              <a:cs typeface="Calibri" panose="020F0502020204030204" pitchFamily="34" charset="0"/>
            </a:endParaRPr>
          </a:p>
        </p:txBody>
      </p:sp>
      <p:sp>
        <p:nvSpPr>
          <p:cNvPr id="136"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AI-generated content may be incorrect.">
            <a:extLst>
              <a:ext uri="{FF2B5EF4-FFF2-40B4-BE49-F238E27FC236}">
                <a16:creationId xmlns:a16="http://schemas.microsoft.com/office/drawing/2014/main" id="{AD4FF883-1B82-C30A-DD6E-E9D45F7A0AD5}"/>
              </a:ext>
            </a:extLst>
          </p:cNvPr>
          <p:cNvPicPr>
            <a:picLocks noChangeAspect="1"/>
          </p:cNvPicPr>
          <p:nvPr/>
        </p:nvPicPr>
        <p:blipFill>
          <a:blip r:embed="rId2"/>
          <a:stretch>
            <a:fillRect/>
          </a:stretch>
        </p:blipFill>
        <p:spPr>
          <a:xfrm>
            <a:off x="1393139" y="1537059"/>
            <a:ext cx="9405721" cy="5102603"/>
          </a:xfrm>
          <a:prstGeom prst="rect">
            <a:avLst/>
          </a:prstGeom>
        </p:spPr>
      </p:pic>
    </p:spTree>
    <p:extLst>
      <p:ext uri="{BB962C8B-B14F-4D97-AF65-F5344CB8AC3E}">
        <p14:creationId xmlns:p14="http://schemas.microsoft.com/office/powerpoint/2010/main" val="3093642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0E6640-BAC4-97EB-9DFB-BE63474FF01C}"/>
            </a:ext>
          </a:extLst>
        </p:cNvPr>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75F69EBF-7CBD-4DCB-B5B5-CFBF706AA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02E8B24A-E924-4EA4-951E-022F5DCF42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60" name="Rectangle 59">
              <a:extLst>
                <a:ext uri="{FF2B5EF4-FFF2-40B4-BE49-F238E27FC236}">
                  <a16:creationId xmlns:a16="http://schemas.microsoft.com/office/drawing/2014/main" id="{C10EB1CC-8FDC-4472-9750-CD4C17248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3A054A7-C0C2-4CBF-ACC4-EAD2ADD14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Rectangle 71">
            <a:extLst>
              <a:ext uri="{FF2B5EF4-FFF2-40B4-BE49-F238E27FC236}">
                <a16:creationId xmlns:a16="http://schemas.microsoft.com/office/drawing/2014/main" id="{7EA2FCBD-319F-4A4F-9834-E50E3DD2A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864" y="549275"/>
            <a:ext cx="11088686" cy="5757925"/>
          </a:xfrm>
          <a:prstGeom prst="rect">
            <a:avLst/>
          </a:prstGeom>
          <a:solidFill>
            <a:schemeClr val="bg1"/>
          </a:solidFill>
          <a:ln>
            <a:noFill/>
          </a:ln>
          <a:effectLst>
            <a:outerShdw blurRad="508000" dist="101600" dir="54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0CD27FF-EBED-091A-D4C6-0AEAAF66EE0B}"/>
              </a:ext>
            </a:extLst>
          </p:cNvPr>
          <p:cNvSpPr>
            <a:spLocks noGrp="1"/>
          </p:cNvSpPr>
          <p:nvPr>
            <p:ph type="ctrTitle"/>
          </p:nvPr>
        </p:nvSpPr>
        <p:spPr>
          <a:xfrm>
            <a:off x="1090749" y="688162"/>
            <a:ext cx="3527291" cy="1457115"/>
          </a:xfrm>
        </p:spPr>
        <p:txBody>
          <a:bodyPr wrap="square" anchor="b">
            <a:normAutofit/>
          </a:bodyPr>
          <a:lstStyle/>
          <a:p>
            <a:pPr algn="l"/>
            <a:r>
              <a:rPr lang="en-US" sz="4700" b="1" dirty="0"/>
              <a:t>Data Wrangling</a:t>
            </a:r>
            <a:endParaRPr lang="en-US" sz="4700" b="1" dirty="0">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55ED9A69-C68E-496C-ABFE-0354B1480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19625" y="549273"/>
            <a:ext cx="7021250" cy="5757924"/>
            <a:chOff x="4656138" y="0"/>
            <a:chExt cx="6983409" cy="6308725"/>
          </a:xfrm>
        </p:grpSpPr>
        <p:sp>
          <p:nvSpPr>
            <p:cNvPr id="66" name="Rectangle 65">
              <a:extLst>
                <a:ext uri="{FF2B5EF4-FFF2-40B4-BE49-F238E27FC236}">
                  <a16:creationId xmlns:a16="http://schemas.microsoft.com/office/drawing/2014/main" id="{313491C7-02F4-42B1-AAB3-E5B366493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656138" y="0"/>
              <a:ext cx="6982794" cy="6308725"/>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Rectangle 66">
              <a:extLst>
                <a:ext uri="{FF2B5EF4-FFF2-40B4-BE49-F238E27FC236}">
                  <a16:creationId xmlns:a16="http://schemas.microsoft.com/office/drawing/2014/main" id="{4929E5EC-E889-4A21-B439-0BE8E238B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656138" y="0"/>
              <a:ext cx="6983409" cy="6308725"/>
            </a:xfrm>
            <a:prstGeom prst="rect">
              <a:avLst/>
            </a:prstGeom>
            <a:solidFill>
              <a:schemeClr val="accent4">
                <a:lumMod val="75000"/>
                <a:alpha val="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Rectangle 67">
              <a:extLst>
                <a:ext uri="{FF2B5EF4-FFF2-40B4-BE49-F238E27FC236}">
                  <a16:creationId xmlns:a16="http://schemas.microsoft.com/office/drawing/2014/main" id="{B0F94FBA-35DE-4AFD-A3C9-280E9BBE3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4656138" y="0"/>
              <a:ext cx="6983409" cy="6308725"/>
            </a:xfrm>
            <a:prstGeom prst="rect">
              <a:avLst/>
            </a:prstGeom>
            <a:solidFill>
              <a:schemeClr val="bg1">
                <a:alpha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4" name="Picture 3">
            <a:extLst>
              <a:ext uri="{FF2B5EF4-FFF2-40B4-BE49-F238E27FC236}">
                <a16:creationId xmlns:a16="http://schemas.microsoft.com/office/drawing/2014/main" id="{B139E014-7E67-228D-411B-17326C07106F}"/>
              </a:ext>
            </a:extLst>
          </p:cNvPr>
          <p:cNvPicPr>
            <a:picLocks noChangeAspect="1"/>
          </p:cNvPicPr>
          <p:nvPr/>
        </p:nvPicPr>
        <p:blipFill>
          <a:blip r:embed="rId2"/>
          <a:stretch>
            <a:fillRect/>
          </a:stretch>
        </p:blipFill>
        <p:spPr>
          <a:xfrm>
            <a:off x="4799625" y="1638045"/>
            <a:ext cx="6658340" cy="3578857"/>
          </a:xfrm>
          <a:prstGeom prst="rect">
            <a:avLst/>
          </a:prstGeom>
          <a:effectLst/>
        </p:spPr>
      </p:pic>
      <p:sp>
        <p:nvSpPr>
          <p:cNvPr id="2" name="Subtitle 2">
            <a:extLst>
              <a:ext uri="{FF2B5EF4-FFF2-40B4-BE49-F238E27FC236}">
                <a16:creationId xmlns:a16="http://schemas.microsoft.com/office/drawing/2014/main" id="{AE87ADC0-4AAD-6281-7DD6-DCC42CA1129E}"/>
              </a:ext>
            </a:extLst>
          </p:cNvPr>
          <p:cNvSpPr txBox="1">
            <a:spLocks/>
          </p:cNvSpPr>
          <p:nvPr/>
        </p:nvSpPr>
        <p:spPr>
          <a:xfrm>
            <a:off x="1090749" y="2284164"/>
            <a:ext cx="3429000" cy="3410712"/>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500" b="1" u="sng" dirty="0"/>
              <a:t>ELT Process: </a:t>
            </a:r>
          </a:p>
          <a:p>
            <a:pPr marL="285750" indent="-285750" algn="l">
              <a:buFont typeface="Arial" panose="020B0604020202020204" pitchFamily="34" charset="0"/>
              <a:buChar char="•"/>
            </a:pPr>
            <a:r>
              <a:rPr lang="en-US" sz="1500" dirty="0"/>
              <a:t>Python’s pandas and </a:t>
            </a:r>
            <a:r>
              <a:rPr lang="en-US" sz="1500" dirty="0" err="1"/>
              <a:t>mysql.connector</a:t>
            </a:r>
            <a:r>
              <a:rPr lang="en-US" sz="1500" dirty="0"/>
              <a:t> library were used to execute the SQL query and load the data into the </a:t>
            </a:r>
            <a:r>
              <a:rPr lang="en-US" sz="1500" dirty="0" err="1"/>
              <a:t>dataframe</a:t>
            </a:r>
            <a:r>
              <a:rPr lang="en-US" sz="1500" dirty="0"/>
              <a:t>. </a:t>
            </a:r>
          </a:p>
          <a:p>
            <a:pPr marL="285750" indent="-285750" algn="l">
              <a:buFont typeface="Arial" panose="020B0604020202020204" pitchFamily="34" charset="0"/>
              <a:buChar char="•"/>
            </a:pPr>
            <a:r>
              <a:rPr lang="en-US" sz="1500" dirty="0"/>
              <a:t>The SQL query filtered the NY state data from the database and then the data for NYC only using county codes (005, 047, 061, 081, and 085) were inserted into the pandas </a:t>
            </a:r>
            <a:r>
              <a:rPr lang="en-US" sz="1500" dirty="0" err="1"/>
              <a:t>dataframe</a:t>
            </a:r>
            <a:r>
              <a:rPr lang="en-US" sz="1500" dirty="0"/>
              <a:t>.</a:t>
            </a:r>
          </a:p>
        </p:txBody>
      </p:sp>
    </p:spTree>
    <p:extLst>
      <p:ext uri="{BB962C8B-B14F-4D97-AF65-F5344CB8AC3E}">
        <p14:creationId xmlns:p14="http://schemas.microsoft.com/office/powerpoint/2010/main" val="595758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049795-DBB7-7232-2EF6-FD508696788B}"/>
            </a:ext>
          </a:extLst>
        </p:cNvPr>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EDC3129-9983-6F98-0400-E11C8EB512F8}"/>
              </a:ext>
            </a:extLst>
          </p:cNvPr>
          <p:cNvSpPr>
            <a:spLocks noGrp="1"/>
          </p:cNvSpPr>
          <p:nvPr>
            <p:ph type="ctrTitle"/>
          </p:nvPr>
        </p:nvSpPr>
        <p:spPr>
          <a:xfrm>
            <a:off x="630936" y="639520"/>
            <a:ext cx="3429000" cy="1719072"/>
          </a:xfrm>
        </p:spPr>
        <p:txBody>
          <a:bodyPr vert="horz" lIns="91440" tIns="45720" rIns="91440" bIns="45720" rtlCol="0" anchor="b">
            <a:normAutofit/>
          </a:bodyPr>
          <a:lstStyle/>
          <a:p>
            <a:pPr algn="l"/>
            <a:r>
              <a:rPr lang="en-US" sz="5400" b="1" kern="1200">
                <a:solidFill>
                  <a:schemeClr val="tx1"/>
                </a:solidFill>
                <a:latin typeface="+mj-lt"/>
                <a:ea typeface="+mj-ea"/>
                <a:cs typeface="+mj-cs"/>
              </a:rPr>
              <a:t>Data Wrangling</a:t>
            </a:r>
          </a:p>
        </p:txBody>
      </p:sp>
      <p:sp>
        <p:nvSpPr>
          <p:cNvPr id="91"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CD52294-C11A-FA56-D16F-A2A991A14E54}"/>
              </a:ext>
            </a:extLst>
          </p:cNvPr>
          <p:cNvSpPr>
            <a:spLocks noGrp="1"/>
          </p:cNvSpPr>
          <p:nvPr>
            <p:ph type="subTitle" idx="1"/>
          </p:nvPr>
        </p:nvSpPr>
        <p:spPr>
          <a:xfrm>
            <a:off x="630936" y="2807208"/>
            <a:ext cx="3429000" cy="3410712"/>
          </a:xfrm>
        </p:spPr>
        <p:txBody>
          <a:bodyPr vert="horz" lIns="91440" tIns="45720" rIns="91440" bIns="45720" rtlCol="0" anchor="t">
            <a:normAutofit/>
          </a:bodyPr>
          <a:lstStyle/>
          <a:p>
            <a:pPr algn="l"/>
            <a:r>
              <a:rPr lang="en-US" sz="1500" b="1" u="sng" dirty="0" err="1"/>
              <a:t>Dataframe</a:t>
            </a:r>
            <a:r>
              <a:rPr lang="en-US" sz="1500" b="1" u="sng" dirty="0"/>
              <a:t> Information:</a:t>
            </a:r>
            <a:r>
              <a:rPr lang="en-US" sz="1500" dirty="0"/>
              <a:t> </a:t>
            </a:r>
          </a:p>
          <a:p>
            <a:pPr marL="457200" indent="-228600" algn="l">
              <a:buFont typeface="Arial" panose="020B0604020202020204" pitchFamily="34" charset="0"/>
              <a:buChar char="•"/>
            </a:pPr>
            <a:r>
              <a:rPr lang="en-US" sz="1500" dirty="0"/>
              <a:t>The </a:t>
            </a:r>
            <a:r>
              <a:rPr lang="en-US" sz="1500" dirty="0" err="1"/>
              <a:t>dataframe</a:t>
            </a:r>
            <a:r>
              <a:rPr lang="en-US" sz="1500" dirty="0"/>
              <a:t> info shows that there are 77083 instances and 10 columns. </a:t>
            </a:r>
          </a:p>
          <a:p>
            <a:pPr marL="457200" indent="-228600" algn="l">
              <a:buFont typeface="Arial" panose="020B0604020202020204" pitchFamily="34" charset="0"/>
              <a:buChar char="•"/>
            </a:pPr>
            <a:r>
              <a:rPr lang="en-US" sz="1500" dirty="0"/>
              <a:t>The Non-Null Count shows that there are no null values in this dataset. </a:t>
            </a:r>
          </a:p>
          <a:p>
            <a:pPr marL="457200" indent="-228600" algn="l">
              <a:buFont typeface="Arial" panose="020B0604020202020204" pitchFamily="34" charset="0"/>
              <a:buChar char="•"/>
            </a:pPr>
            <a:r>
              <a:rPr lang="en-US" sz="1500" dirty="0"/>
              <a:t>The </a:t>
            </a:r>
            <a:r>
              <a:rPr lang="en-US" sz="1500" dirty="0" err="1"/>
              <a:t>Obs_Date</a:t>
            </a:r>
            <a:r>
              <a:rPr lang="en-US" sz="1500" dirty="0"/>
              <a:t> column was converted to Datetime data type. </a:t>
            </a:r>
          </a:p>
          <a:p>
            <a:pPr marL="457200" indent="-228600" algn="l">
              <a:buFont typeface="Arial" panose="020B0604020202020204" pitchFamily="34" charset="0"/>
              <a:buChar char="•"/>
            </a:pPr>
            <a:r>
              <a:rPr lang="en-US" sz="1500" dirty="0"/>
              <a:t>All the other columns are object/ string type, except </a:t>
            </a:r>
            <a:r>
              <a:rPr lang="en-US" sz="1500" dirty="0" err="1"/>
              <a:t>No_of_Sites_Reporting</a:t>
            </a:r>
            <a:r>
              <a:rPr lang="en-US" sz="1500" dirty="0"/>
              <a:t>- which is integer type. </a:t>
            </a:r>
            <a:endParaRPr lang="en-US" sz="1500" b="1" u="sng" dirty="0"/>
          </a:p>
        </p:txBody>
      </p:sp>
      <p:pic>
        <p:nvPicPr>
          <p:cNvPr id="8" name="Picture 7">
            <a:extLst>
              <a:ext uri="{FF2B5EF4-FFF2-40B4-BE49-F238E27FC236}">
                <a16:creationId xmlns:a16="http://schemas.microsoft.com/office/drawing/2014/main" id="{4F4027A9-0E33-55A9-3106-A3DDF9B75D7B}"/>
              </a:ext>
            </a:extLst>
          </p:cNvPr>
          <p:cNvPicPr>
            <a:picLocks noChangeAspect="1"/>
          </p:cNvPicPr>
          <p:nvPr/>
        </p:nvPicPr>
        <p:blipFill>
          <a:blip r:embed="rId2"/>
          <a:stretch>
            <a:fillRect/>
          </a:stretch>
        </p:blipFill>
        <p:spPr>
          <a:xfrm>
            <a:off x="4702243" y="640080"/>
            <a:ext cx="6807825" cy="5577840"/>
          </a:xfrm>
          <a:prstGeom prst="rect">
            <a:avLst/>
          </a:prstGeom>
        </p:spPr>
      </p:pic>
    </p:spTree>
    <p:extLst>
      <p:ext uri="{BB962C8B-B14F-4D97-AF65-F5344CB8AC3E}">
        <p14:creationId xmlns:p14="http://schemas.microsoft.com/office/powerpoint/2010/main" val="2177282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F2A11B-B01E-D469-A2E4-197FD3DE6FFF}"/>
            </a:ext>
          </a:extLst>
        </p:cNvPr>
        <p:cNvGrpSpPr/>
        <p:nvPr/>
      </p:nvGrpSpPr>
      <p:grpSpPr>
        <a:xfrm>
          <a:off x="0" y="0"/>
          <a:ext cx="0" cy="0"/>
          <a:chOff x="0" y="0"/>
          <a:chExt cx="0" cy="0"/>
        </a:xfrm>
      </p:grpSpPr>
      <p:sp useBgFill="1">
        <p:nvSpPr>
          <p:cNvPr id="1082" name="Rectangle 1081">
            <a:extLst>
              <a:ext uri="{FF2B5EF4-FFF2-40B4-BE49-F238E27FC236}">
                <a16:creationId xmlns:a16="http://schemas.microsoft.com/office/drawing/2014/main" id="{10A05691-F36F-44DD-904C-144D68CAF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F4E21CD0-2A92-5DF8-D5BE-D0C1E68E26D3}"/>
              </a:ext>
            </a:extLst>
          </p:cNvPr>
          <p:cNvPicPr>
            <a:picLocks noChangeAspect="1"/>
          </p:cNvPicPr>
          <p:nvPr/>
        </p:nvPicPr>
        <p:blipFill>
          <a:blip r:embed="rId3"/>
          <a:stretch>
            <a:fillRect/>
          </a:stretch>
        </p:blipFill>
        <p:spPr>
          <a:xfrm>
            <a:off x="661794" y="2359152"/>
            <a:ext cx="5468325" cy="4388330"/>
          </a:xfrm>
          <a:prstGeom prst="rect">
            <a:avLst/>
          </a:prstGeom>
        </p:spPr>
      </p:pic>
      <p:pic>
        <p:nvPicPr>
          <p:cNvPr id="6" name="Picture 5">
            <a:extLst>
              <a:ext uri="{FF2B5EF4-FFF2-40B4-BE49-F238E27FC236}">
                <a16:creationId xmlns:a16="http://schemas.microsoft.com/office/drawing/2014/main" id="{C4A20D2C-C4D9-8F94-FB0B-D0A511C09445}"/>
              </a:ext>
            </a:extLst>
          </p:cNvPr>
          <p:cNvPicPr>
            <a:picLocks noChangeAspect="1"/>
          </p:cNvPicPr>
          <p:nvPr/>
        </p:nvPicPr>
        <p:blipFill>
          <a:blip r:embed="rId4"/>
          <a:stretch>
            <a:fillRect/>
          </a:stretch>
        </p:blipFill>
        <p:spPr>
          <a:xfrm>
            <a:off x="3743054" y="449482"/>
            <a:ext cx="2472353" cy="1690214"/>
          </a:xfrm>
          <a:prstGeom prst="rect">
            <a:avLst/>
          </a:prstGeom>
        </p:spPr>
      </p:pic>
      <p:pic>
        <p:nvPicPr>
          <p:cNvPr id="1026" name="Picture 2" descr="Air Quality Index (AQI) - C4S Courses">
            <a:extLst>
              <a:ext uri="{FF2B5EF4-FFF2-40B4-BE49-F238E27FC236}">
                <a16:creationId xmlns:a16="http://schemas.microsoft.com/office/drawing/2014/main" id="{189C00FA-B92E-3355-AFC1-61610EA9BA4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92247" y="633619"/>
            <a:ext cx="2241147" cy="1260645"/>
          </a:xfrm>
          <a:prstGeom prst="rect">
            <a:avLst/>
          </a:prstGeom>
          <a:noFill/>
          <a:extLst>
            <a:ext uri="{909E8E84-426E-40DD-AFC4-6F175D3DCCD1}">
              <a14:hiddenFill xmlns:a14="http://schemas.microsoft.com/office/drawing/2010/main">
                <a:solidFill>
                  <a:srgbClr val="FFFFFF"/>
                </a:solidFill>
              </a14:hiddenFill>
            </a:ext>
          </a:extLst>
        </p:spPr>
      </p:pic>
      <p:sp useBgFill="1">
        <p:nvSpPr>
          <p:cNvPr id="1083" name="Rectangle 1082">
            <a:extLst>
              <a:ext uri="{FF2B5EF4-FFF2-40B4-BE49-F238E27FC236}">
                <a16:creationId xmlns:a16="http://schemas.microsoft.com/office/drawing/2014/main" id="{D79DE9F7-28C4-4856-BA57-D696E124C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4892" y="633619"/>
            <a:ext cx="492741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93CFA429-E5AF-15C8-1AFE-2F89AEB049A1}"/>
              </a:ext>
            </a:extLst>
          </p:cNvPr>
          <p:cNvSpPr>
            <a:spLocks noGrp="1"/>
          </p:cNvSpPr>
          <p:nvPr>
            <p:ph type="ctrTitle"/>
          </p:nvPr>
        </p:nvSpPr>
        <p:spPr>
          <a:xfrm>
            <a:off x="7313516" y="978408"/>
            <a:ext cx="4056530" cy="1106424"/>
          </a:xfrm>
        </p:spPr>
        <p:txBody>
          <a:bodyPr vert="horz" lIns="91440" tIns="45720" rIns="91440" bIns="45720" rtlCol="0" anchor="ctr">
            <a:normAutofit/>
          </a:bodyPr>
          <a:lstStyle/>
          <a:p>
            <a:pPr algn="l"/>
            <a:r>
              <a:rPr lang="en-US" sz="2800" b="1"/>
              <a:t>Exploratory Data Analysis</a:t>
            </a:r>
            <a:endParaRPr lang="en-US" sz="2800" b="1" dirty="0"/>
          </a:p>
        </p:txBody>
      </p:sp>
      <p:sp>
        <p:nvSpPr>
          <p:cNvPr id="1084" name="Rectangle 1083">
            <a:extLst>
              <a:ext uri="{FF2B5EF4-FFF2-40B4-BE49-F238E27FC236}">
                <a16:creationId xmlns:a16="http://schemas.microsoft.com/office/drawing/2014/main" id="{E1F9ED9C-121B-44C6-A308-5824769C4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884"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5" name="Rectangle 1084">
            <a:extLst>
              <a:ext uri="{FF2B5EF4-FFF2-40B4-BE49-F238E27FC236}">
                <a16:creationId xmlns:a16="http://schemas.microsoft.com/office/drawing/2014/main" id="{4A5F8185-F27B-4E99-A06C-007336FE3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52776" y="2121408"/>
            <a:ext cx="395865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02088F35-1DEA-28BC-4DDA-F4517DD0D243}"/>
              </a:ext>
            </a:extLst>
          </p:cNvPr>
          <p:cNvSpPr>
            <a:spLocks noGrp="1"/>
          </p:cNvSpPr>
          <p:nvPr>
            <p:ph type="subTitle" idx="1"/>
          </p:nvPr>
        </p:nvSpPr>
        <p:spPr>
          <a:xfrm>
            <a:off x="7050472" y="2359152"/>
            <a:ext cx="4697554" cy="3429000"/>
          </a:xfrm>
        </p:spPr>
        <p:txBody>
          <a:bodyPr vert="horz" lIns="91440" tIns="45720" rIns="91440" bIns="45720" rtlCol="0">
            <a:normAutofit/>
          </a:bodyPr>
          <a:lstStyle/>
          <a:p>
            <a:pPr algn="just"/>
            <a:r>
              <a:rPr lang="en-US" sz="1200" b="1" u="sng" dirty="0">
                <a:effectLst/>
              </a:rPr>
              <a:t>Description Statistics and Histogram plot for AQI:</a:t>
            </a:r>
            <a:r>
              <a:rPr lang="en-US" sz="1200" b="1" dirty="0">
                <a:effectLst/>
              </a:rPr>
              <a:t> </a:t>
            </a:r>
          </a:p>
          <a:p>
            <a:pPr algn="just"/>
            <a:r>
              <a:rPr lang="en-US" sz="1200" dirty="0">
                <a:effectLst/>
              </a:rPr>
              <a:t>The description statistics for AQI shows that-</a:t>
            </a:r>
          </a:p>
          <a:p>
            <a:pPr marL="285750" indent="-228600" algn="just">
              <a:buFont typeface="Arial" panose="020B0604020202020204" pitchFamily="34" charset="0"/>
              <a:buChar char="•"/>
            </a:pPr>
            <a:r>
              <a:rPr lang="en-US" sz="1200" dirty="0"/>
              <a:t>T</a:t>
            </a:r>
            <a:r>
              <a:rPr lang="en-US" sz="1200" dirty="0">
                <a:effectLst/>
              </a:rPr>
              <a:t>he mean AQI value is 51.8 and the maximum value is 289. </a:t>
            </a:r>
          </a:p>
          <a:p>
            <a:pPr marL="285750" indent="-228600" algn="just">
              <a:buFont typeface="Arial" panose="020B0604020202020204" pitchFamily="34" charset="0"/>
              <a:buChar char="•"/>
            </a:pPr>
            <a:r>
              <a:rPr lang="en-US" sz="1200" dirty="0">
                <a:effectLst/>
              </a:rPr>
              <a:t>That means according to the AQI category definition in </a:t>
            </a:r>
            <a:r>
              <a:rPr lang="en-US" sz="1200" u="sng" dirty="0">
                <a:effectLst/>
                <a:hlinkClick r:id="rId6"/>
              </a:rPr>
              <a:t>https://www.epa.gov/wildfire-smoke-course/communicating-air-quality-conditions-air-quality-index</a:t>
            </a:r>
            <a:r>
              <a:rPr lang="en-US" sz="1200" dirty="0">
                <a:effectLst/>
              </a:rPr>
              <a:t>, NYC had on an average  “Moderate” (Moderate = 51-100) air quality in last 45 years. </a:t>
            </a:r>
          </a:p>
          <a:p>
            <a:pPr marL="285750" indent="-228600" algn="just">
              <a:buFont typeface="Arial" panose="020B0604020202020204" pitchFamily="34" charset="0"/>
              <a:buChar char="•"/>
            </a:pPr>
            <a:r>
              <a:rPr lang="en-US" sz="1200" dirty="0">
                <a:effectLst/>
              </a:rPr>
              <a:t>The highest AQI value is recorded 279 in the same period, and it is categorized as “Very Unhealthy”. </a:t>
            </a:r>
          </a:p>
          <a:p>
            <a:pPr marL="285750" indent="-228600" algn="just">
              <a:buFont typeface="Arial" panose="020B0604020202020204" pitchFamily="34" charset="0"/>
              <a:buChar char="•"/>
            </a:pPr>
            <a:r>
              <a:rPr lang="en-US" sz="1200" dirty="0">
                <a:effectLst/>
              </a:rPr>
              <a:t>Another interesting observation is that there was no “Hazardous” category recorded. </a:t>
            </a:r>
          </a:p>
          <a:p>
            <a:pPr marL="285750" indent="-228600" algn="just">
              <a:buFont typeface="Arial" panose="020B0604020202020204" pitchFamily="34" charset="0"/>
              <a:buChar char="•"/>
            </a:pPr>
            <a:r>
              <a:rPr lang="en-US" sz="1200" dirty="0">
                <a:effectLst/>
              </a:rPr>
              <a:t>The distribution also shows bell curve with slight right skewness</a:t>
            </a:r>
            <a:endParaRPr lang="en-US" sz="1200" dirty="0"/>
          </a:p>
        </p:txBody>
      </p:sp>
      <p:sp>
        <p:nvSpPr>
          <p:cNvPr id="7" name="TextBox 6">
            <a:extLst>
              <a:ext uri="{FF2B5EF4-FFF2-40B4-BE49-F238E27FC236}">
                <a16:creationId xmlns:a16="http://schemas.microsoft.com/office/drawing/2014/main" id="{B815BE9E-3FA5-CDC4-4837-57A3604BC24C}"/>
              </a:ext>
            </a:extLst>
          </p:cNvPr>
          <p:cNvSpPr txBox="1"/>
          <p:nvPr/>
        </p:nvSpPr>
        <p:spPr>
          <a:xfrm>
            <a:off x="661794" y="1825226"/>
            <a:ext cx="3081260" cy="307777"/>
          </a:xfrm>
          <a:prstGeom prst="rect">
            <a:avLst/>
          </a:prstGeom>
          <a:noFill/>
        </p:spPr>
        <p:txBody>
          <a:bodyPr wrap="square" rtlCol="0">
            <a:spAutoFit/>
          </a:bodyPr>
          <a:lstStyle/>
          <a:p>
            <a:pPr>
              <a:spcAft>
                <a:spcPts val="600"/>
              </a:spcAft>
            </a:pPr>
            <a:r>
              <a:rPr lang="en-US" sz="700" i="1" dirty="0"/>
              <a:t>Image taken from internet: https://c4scourses.in/blog/air-quality-index-aqi/?srsltid=</a:t>
            </a:r>
            <a:r>
              <a:rPr lang="en-US" sz="600" i="1" dirty="0"/>
              <a:t>AfmBOoo1Wdw36nHB71nLUdb0Vsyd2Dndkhi14htNdO4o3nGwHrYXIfra</a:t>
            </a:r>
            <a:endParaRPr lang="en-US" sz="700" i="1" dirty="0"/>
          </a:p>
        </p:txBody>
      </p:sp>
    </p:spTree>
    <p:extLst>
      <p:ext uri="{BB962C8B-B14F-4D97-AF65-F5344CB8AC3E}">
        <p14:creationId xmlns:p14="http://schemas.microsoft.com/office/powerpoint/2010/main" val="2463507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671BDC-ED52-EAEB-D643-6719505B8C76}"/>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8967D37-58BF-925B-4514-6F999E4C39A3}"/>
              </a:ext>
            </a:extLst>
          </p:cNvPr>
          <p:cNvSpPr>
            <a:spLocks noGrp="1"/>
          </p:cNvSpPr>
          <p:nvPr>
            <p:ph type="ctrTitle"/>
          </p:nvPr>
        </p:nvSpPr>
        <p:spPr>
          <a:xfrm>
            <a:off x="1113810" y="2960716"/>
            <a:ext cx="4036334" cy="2387600"/>
          </a:xfrm>
        </p:spPr>
        <p:txBody>
          <a:bodyPr anchor="t">
            <a:normAutofit/>
          </a:bodyPr>
          <a:lstStyle/>
          <a:p>
            <a:pPr algn="l"/>
            <a:r>
              <a:rPr lang="en-US" sz="5400" b="1" dirty="0"/>
              <a:t>Exploratory Data Analysis</a:t>
            </a:r>
            <a:endParaRPr lang="en-US" sz="5400" b="1" dirty="0">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E71FDC3E-FCA2-6A1D-AEC7-AA2009498318}"/>
              </a:ext>
            </a:extLst>
          </p:cNvPr>
          <p:cNvSpPr>
            <a:spLocks noGrp="1"/>
          </p:cNvSpPr>
          <p:nvPr>
            <p:ph type="subTitle" idx="1"/>
          </p:nvPr>
        </p:nvSpPr>
        <p:spPr>
          <a:xfrm>
            <a:off x="1113809" y="666729"/>
            <a:ext cx="4036333" cy="1996158"/>
          </a:xfrm>
        </p:spPr>
        <p:txBody>
          <a:bodyPr anchor="b">
            <a:normAutofit/>
          </a:bodyPr>
          <a:lstStyle/>
          <a:p>
            <a:pPr marL="285750" indent="-285750" algn="just">
              <a:buFont typeface="Arial" panose="020B0604020202020204" pitchFamily="34" charset="0"/>
              <a:buChar char="•"/>
            </a:pPr>
            <a:r>
              <a:rPr lang="en-US" sz="1400" dirty="0">
                <a:latin typeface="Calibri" panose="020F0502020204030204" pitchFamily="34" charset="0"/>
                <a:cs typeface="Calibri" panose="020F0502020204030204" pitchFamily="34" charset="0"/>
              </a:rPr>
              <a:t>The box plot validates that the data falls within the defined range of the AQI value for each category. </a:t>
            </a:r>
          </a:p>
          <a:p>
            <a:pPr marL="285750" indent="-285750" algn="just">
              <a:buFont typeface="Arial" panose="020B0604020202020204" pitchFamily="34" charset="0"/>
              <a:buChar char="•"/>
            </a:pPr>
            <a:r>
              <a:rPr lang="en-US" sz="1400" dirty="0">
                <a:latin typeface="Calibri" panose="020F0502020204030204" pitchFamily="34" charset="0"/>
                <a:cs typeface="Calibri" panose="020F0502020204030204" pitchFamily="34" charset="0"/>
              </a:rPr>
              <a:t>The box plot also shows that for Category “Good” there are some instances for which AQI value is 0. </a:t>
            </a:r>
          </a:p>
          <a:p>
            <a:pPr marL="285750" indent="-285750" algn="just">
              <a:buFont typeface="Arial" panose="020B0604020202020204" pitchFamily="34" charset="0"/>
              <a:buChar char="•"/>
            </a:pPr>
            <a:r>
              <a:rPr lang="en-US" sz="1400" dirty="0">
                <a:latin typeface="Calibri" panose="020F0502020204030204" pitchFamily="34" charset="0"/>
                <a:cs typeface="Calibri" panose="020F0502020204030204" pitchFamily="34" charset="0"/>
              </a:rPr>
              <a:t>Also, there are significant number of outliers for the category “Very Unhealthy”.</a:t>
            </a:r>
          </a:p>
        </p:txBody>
      </p:sp>
      <p:grpSp>
        <p:nvGrpSpPr>
          <p:cNvPr id="41" name="Group 4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Rectangle 4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72D6194-F874-CDB1-C7A9-C79388031A6F}"/>
              </a:ext>
            </a:extLst>
          </p:cNvPr>
          <p:cNvPicPr>
            <a:picLocks noChangeAspect="1"/>
          </p:cNvPicPr>
          <p:nvPr/>
        </p:nvPicPr>
        <p:blipFill>
          <a:blip r:embed="rId2"/>
          <a:stretch>
            <a:fillRect/>
          </a:stretch>
        </p:blipFill>
        <p:spPr>
          <a:xfrm>
            <a:off x="5743380" y="391251"/>
            <a:ext cx="5912953" cy="5898170"/>
          </a:xfrm>
          <a:prstGeom prst="rect">
            <a:avLst/>
          </a:prstGeom>
        </p:spPr>
      </p:pic>
    </p:spTree>
    <p:extLst>
      <p:ext uri="{BB962C8B-B14F-4D97-AF65-F5344CB8AC3E}">
        <p14:creationId xmlns:p14="http://schemas.microsoft.com/office/powerpoint/2010/main" val="3786615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9E1DFF-09B4-E76B-5012-BA9BE615553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9DC5FB0-B5E2-10CB-3E01-5A6BB67EDC39}"/>
              </a:ext>
            </a:extLst>
          </p:cNvPr>
          <p:cNvSpPr>
            <a:spLocks noGrp="1"/>
          </p:cNvSpPr>
          <p:nvPr>
            <p:ph type="ctrTitle"/>
          </p:nvPr>
        </p:nvSpPr>
        <p:spPr>
          <a:xfrm>
            <a:off x="429768" y="411480"/>
            <a:ext cx="11201400" cy="1106424"/>
          </a:xfrm>
        </p:spPr>
        <p:txBody>
          <a:bodyPr vert="horz" lIns="91440" tIns="45720" rIns="91440" bIns="45720" rtlCol="0" anchor="ctr">
            <a:normAutofit/>
          </a:bodyPr>
          <a:lstStyle/>
          <a:p>
            <a:pPr algn="l"/>
            <a:r>
              <a:rPr lang="en-US" sz="3600" b="1" kern="1200" dirty="0">
                <a:solidFill>
                  <a:schemeClr val="tx1"/>
                </a:solidFill>
                <a:latin typeface="+mj-lt"/>
                <a:ea typeface="+mj-ea"/>
                <a:cs typeface="+mj-cs"/>
              </a:rPr>
              <a:t>Exploratory Data Analysis</a:t>
            </a:r>
          </a:p>
        </p:txBody>
      </p:sp>
      <p:sp>
        <p:nvSpPr>
          <p:cNvPr id="12" name="Rectangle 11">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B8B99870-AE62-E235-CC14-236850DF5756}"/>
              </a:ext>
            </a:extLst>
          </p:cNvPr>
          <p:cNvPicPr>
            <a:picLocks noChangeAspect="1"/>
          </p:cNvPicPr>
          <p:nvPr/>
        </p:nvPicPr>
        <p:blipFill>
          <a:blip r:embed="rId3"/>
          <a:stretch>
            <a:fillRect/>
          </a:stretch>
        </p:blipFill>
        <p:spPr>
          <a:xfrm>
            <a:off x="1381011" y="1719072"/>
            <a:ext cx="4800066" cy="4517136"/>
          </a:xfrm>
          <a:prstGeom prst="rect">
            <a:avLst/>
          </a:prstGeom>
        </p:spPr>
      </p:pic>
      <p:sp useBgFill="1">
        <p:nvSpPr>
          <p:cNvPr id="14" name="Rectangle 13">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26BD706C-CD6E-EBAA-4371-53F8DAD21F7B}"/>
              </a:ext>
            </a:extLst>
          </p:cNvPr>
          <p:cNvSpPr>
            <a:spLocks noGrp="1"/>
          </p:cNvSpPr>
          <p:nvPr>
            <p:ph type="subTitle" idx="1"/>
          </p:nvPr>
        </p:nvSpPr>
        <p:spPr>
          <a:xfrm>
            <a:off x="7938752" y="2020824"/>
            <a:ext cx="3455097" cy="3959352"/>
          </a:xfrm>
        </p:spPr>
        <p:txBody>
          <a:bodyPr vert="horz" lIns="91440" tIns="45720" rIns="91440" bIns="45720" rtlCol="0" anchor="ctr">
            <a:normAutofit/>
          </a:bodyPr>
          <a:lstStyle/>
          <a:p>
            <a:pPr algn="l">
              <a:spcAft>
                <a:spcPts val="750"/>
              </a:spcAft>
            </a:pPr>
            <a:r>
              <a:rPr lang="en-US" sz="1400" b="1" i="0" u="sng" dirty="0">
                <a:effectLst/>
              </a:rPr>
              <a:t>Correlation Matrix for the numerical features:</a:t>
            </a:r>
          </a:p>
          <a:p>
            <a:pPr marL="342900" indent="-228600" algn="l">
              <a:spcAft>
                <a:spcPts val="750"/>
              </a:spcAft>
              <a:buFont typeface="Arial" panose="020B0604020202020204" pitchFamily="34" charset="0"/>
              <a:buChar char="•"/>
            </a:pPr>
            <a:r>
              <a:rPr lang="en-US" sz="1400" i="0" dirty="0">
                <a:effectLst/>
              </a:rPr>
              <a:t>AQI vs </a:t>
            </a:r>
            <a:r>
              <a:rPr lang="en-US" sz="1400" i="0" dirty="0" err="1">
                <a:effectLst/>
              </a:rPr>
              <a:t>No_of_Sites_Reporting</a:t>
            </a:r>
            <a:r>
              <a:rPr lang="en-US" sz="1400" i="0" dirty="0">
                <a:effectLst/>
              </a:rPr>
              <a:t> = 0.28. AQI tends to rise somewhat but not significantly as the number of reporting locations rises.</a:t>
            </a:r>
          </a:p>
          <a:p>
            <a:pPr marL="342900" indent="-228600" algn="l">
              <a:spcAft>
                <a:spcPts val="750"/>
              </a:spcAft>
              <a:buFont typeface="Arial" panose="020B0604020202020204" pitchFamily="34" charset="0"/>
              <a:buChar char="•"/>
            </a:pPr>
            <a:r>
              <a:rPr lang="en-US" sz="1400" i="0" dirty="0">
                <a:effectLst/>
              </a:rPr>
              <a:t>AQI vs Year = -0.15. AQI tends to decline very slightly over time.</a:t>
            </a:r>
          </a:p>
          <a:p>
            <a:pPr marL="342900" indent="-228600" algn="l">
              <a:spcAft>
                <a:spcPts val="750"/>
              </a:spcAft>
              <a:buFont typeface="Arial" panose="020B0604020202020204" pitchFamily="34" charset="0"/>
              <a:buChar char="•"/>
            </a:pPr>
            <a:r>
              <a:rPr lang="en-US" sz="1400" i="0" dirty="0" err="1">
                <a:effectLst/>
              </a:rPr>
              <a:t>No_of_Sites_Reporting</a:t>
            </a:r>
            <a:r>
              <a:rPr lang="en-US" sz="1400" i="0" dirty="0">
                <a:effectLst/>
              </a:rPr>
              <a:t> vs Year = 0.14. </a:t>
            </a:r>
            <a:r>
              <a:rPr lang="en-US" sz="1400" dirty="0"/>
              <a:t>N</a:t>
            </a:r>
            <a:r>
              <a:rPr lang="en-US" sz="1400" i="0" dirty="0">
                <a:effectLst/>
              </a:rPr>
              <a:t>umber of reporting sites seems to rise slightly over time.</a:t>
            </a:r>
          </a:p>
        </p:txBody>
      </p:sp>
    </p:spTree>
    <p:extLst>
      <p:ext uri="{BB962C8B-B14F-4D97-AF65-F5344CB8AC3E}">
        <p14:creationId xmlns:p14="http://schemas.microsoft.com/office/powerpoint/2010/main" val="266826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F81EB2-2F9A-E834-9A3A-DA8383E13C61}"/>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A08C84E-C314-6829-04B8-58B49DFD374B}"/>
              </a:ext>
            </a:extLst>
          </p:cNvPr>
          <p:cNvSpPr>
            <a:spLocks noGrp="1"/>
          </p:cNvSpPr>
          <p:nvPr>
            <p:ph type="ctrTitle"/>
          </p:nvPr>
        </p:nvSpPr>
        <p:spPr>
          <a:xfrm>
            <a:off x="429768" y="411480"/>
            <a:ext cx="11201400" cy="1106424"/>
          </a:xfrm>
        </p:spPr>
        <p:txBody>
          <a:bodyPr vert="horz" lIns="91440" tIns="45720" rIns="91440" bIns="45720" rtlCol="0" anchor="ctr">
            <a:normAutofit/>
          </a:bodyPr>
          <a:lstStyle/>
          <a:p>
            <a:pPr algn="l"/>
            <a:r>
              <a:rPr lang="en-US" sz="3600" b="1" kern="1200" dirty="0">
                <a:solidFill>
                  <a:schemeClr val="tx1"/>
                </a:solidFill>
                <a:latin typeface="+mj-lt"/>
                <a:ea typeface="+mj-ea"/>
                <a:cs typeface="+mj-cs"/>
              </a:rPr>
              <a:t>Exploratory Data Analysis</a:t>
            </a:r>
          </a:p>
        </p:txBody>
      </p:sp>
      <p:sp>
        <p:nvSpPr>
          <p:cNvPr id="39" name="Rectangle 38">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a:extLst>
              <a:ext uri="{FF2B5EF4-FFF2-40B4-BE49-F238E27FC236}">
                <a16:creationId xmlns:a16="http://schemas.microsoft.com/office/drawing/2014/main" id="{29D365F9-370B-7C80-185D-205CB67FA4D4}"/>
              </a:ext>
            </a:extLst>
          </p:cNvPr>
          <p:cNvPicPr>
            <a:picLocks noChangeAspect="1"/>
          </p:cNvPicPr>
          <p:nvPr/>
        </p:nvPicPr>
        <p:blipFill>
          <a:blip r:embed="rId3"/>
          <a:stretch>
            <a:fillRect/>
          </a:stretch>
        </p:blipFill>
        <p:spPr>
          <a:xfrm>
            <a:off x="588721" y="1719072"/>
            <a:ext cx="6384645" cy="4517136"/>
          </a:xfrm>
          <a:prstGeom prst="rect">
            <a:avLst/>
          </a:prstGeom>
        </p:spPr>
      </p:pic>
      <p:sp useBgFill="1">
        <p:nvSpPr>
          <p:cNvPr id="40" name="Rectangle 39">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A41F29A5-0076-2E3D-F7BE-2E14C185E120}"/>
              </a:ext>
            </a:extLst>
          </p:cNvPr>
          <p:cNvSpPr>
            <a:spLocks noGrp="1"/>
          </p:cNvSpPr>
          <p:nvPr>
            <p:ph type="subTitle" idx="1"/>
          </p:nvPr>
        </p:nvSpPr>
        <p:spPr>
          <a:xfrm>
            <a:off x="7938752" y="2020824"/>
            <a:ext cx="3455097" cy="3959352"/>
          </a:xfrm>
        </p:spPr>
        <p:txBody>
          <a:bodyPr vert="horz" lIns="91440" tIns="45720" rIns="91440" bIns="45720" rtlCol="0" anchor="ctr">
            <a:normAutofit/>
          </a:bodyPr>
          <a:lstStyle/>
          <a:p>
            <a:pPr algn="l">
              <a:spcAft>
                <a:spcPts val="750"/>
              </a:spcAft>
            </a:pPr>
            <a:r>
              <a:rPr lang="en-US" sz="1800" b="1" i="0" u="sng" dirty="0">
                <a:effectLst/>
              </a:rPr>
              <a:t>County comparison for average AQI </a:t>
            </a:r>
            <a:r>
              <a:rPr lang="en-US" sz="1800" b="1" u="sng" dirty="0"/>
              <a:t>(</a:t>
            </a:r>
            <a:r>
              <a:rPr lang="en-US" sz="1800" b="1" i="0" u="sng" dirty="0">
                <a:effectLst/>
              </a:rPr>
              <a:t>1980-2025</a:t>
            </a:r>
            <a:r>
              <a:rPr lang="en-US" sz="1800" b="1" u="sng" dirty="0"/>
              <a:t>)</a:t>
            </a:r>
            <a:r>
              <a:rPr lang="en-US" sz="1800" b="1" i="0" u="sng" dirty="0">
                <a:effectLst/>
              </a:rPr>
              <a:t>:</a:t>
            </a:r>
          </a:p>
          <a:p>
            <a:pPr marL="342900" indent="-228600" algn="l">
              <a:spcAft>
                <a:spcPts val="750"/>
              </a:spcAft>
              <a:buFont typeface="Arial" panose="020B0604020202020204" pitchFamily="34" charset="0"/>
              <a:buChar char="•"/>
            </a:pPr>
            <a:r>
              <a:rPr lang="en-US" sz="1800" dirty="0"/>
              <a:t>The </a:t>
            </a:r>
            <a:r>
              <a:rPr lang="en-US" sz="1800" dirty="0" err="1"/>
              <a:t>barchart</a:t>
            </a:r>
            <a:r>
              <a:rPr lang="en-US" sz="1800" dirty="0"/>
              <a:t> shows that New York county has the highest average AQI value 64.2.</a:t>
            </a:r>
          </a:p>
          <a:p>
            <a:pPr marL="342900" indent="-228600" algn="l">
              <a:spcAft>
                <a:spcPts val="750"/>
              </a:spcAft>
              <a:buFont typeface="Arial" panose="020B0604020202020204" pitchFamily="34" charset="0"/>
              <a:buChar char="•"/>
            </a:pPr>
            <a:r>
              <a:rPr lang="en-US" sz="1800" i="0" dirty="0">
                <a:effectLst/>
              </a:rPr>
              <a:t>Richmond and Bronx have </a:t>
            </a:r>
            <a:r>
              <a:rPr lang="en-US" sz="1800" dirty="0"/>
              <a:t>almost</a:t>
            </a:r>
            <a:r>
              <a:rPr lang="en-US" sz="1800" i="0" dirty="0">
                <a:effectLst/>
              </a:rPr>
              <a:t> identical </a:t>
            </a:r>
            <a:r>
              <a:rPr lang="en-US" sz="1800" dirty="0"/>
              <a:t>average AQI.</a:t>
            </a:r>
          </a:p>
          <a:p>
            <a:pPr marL="342900" indent="-228600" algn="l">
              <a:spcAft>
                <a:spcPts val="750"/>
              </a:spcAft>
              <a:buFont typeface="Arial" panose="020B0604020202020204" pitchFamily="34" charset="0"/>
              <a:buChar char="•"/>
            </a:pPr>
            <a:r>
              <a:rPr lang="en-US" sz="1800" i="0" dirty="0">
                <a:effectLst/>
              </a:rPr>
              <a:t>Kings has the lowest AQI </a:t>
            </a:r>
            <a:r>
              <a:rPr lang="en-US" sz="1800" dirty="0"/>
              <a:t>v</a:t>
            </a:r>
            <a:r>
              <a:rPr lang="en-US" sz="1800" i="0" dirty="0">
                <a:effectLst/>
              </a:rPr>
              <a:t>alue 44.2, followed by Queens (45.8).</a:t>
            </a:r>
          </a:p>
          <a:p>
            <a:pPr indent="-228600" algn="l">
              <a:spcAft>
                <a:spcPts val="750"/>
              </a:spcAft>
              <a:buFont typeface="Arial" panose="020B0604020202020204" pitchFamily="34" charset="0"/>
              <a:buChar char="•"/>
            </a:pPr>
            <a:endParaRPr lang="en-US" sz="1800" i="0" dirty="0">
              <a:effectLst/>
            </a:endParaRPr>
          </a:p>
        </p:txBody>
      </p:sp>
    </p:spTree>
    <p:extLst>
      <p:ext uri="{BB962C8B-B14F-4D97-AF65-F5344CB8AC3E}">
        <p14:creationId xmlns:p14="http://schemas.microsoft.com/office/powerpoint/2010/main" val="1112813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463FA9-330E-CD84-C017-2933BBC3FDA8}"/>
              </a:ext>
            </a:extLst>
          </p:cNvPr>
          <p:cNvSpPr>
            <a:spLocks noGrp="1"/>
          </p:cNvSpPr>
          <p:nvPr>
            <p:ph type="title"/>
          </p:nvPr>
        </p:nvSpPr>
        <p:spPr>
          <a:xfrm>
            <a:off x="1043631" y="809898"/>
            <a:ext cx="9942716" cy="1554480"/>
          </a:xfrm>
        </p:spPr>
        <p:txBody>
          <a:bodyPr anchor="ctr">
            <a:normAutofit/>
          </a:bodyPr>
          <a:lstStyle/>
          <a:p>
            <a:r>
              <a:rPr lang="en-US" sz="4800"/>
              <a:t>Research Question 1</a:t>
            </a:r>
          </a:p>
        </p:txBody>
      </p:sp>
      <p:sp>
        <p:nvSpPr>
          <p:cNvPr id="3" name="Content Placeholder 2">
            <a:extLst>
              <a:ext uri="{FF2B5EF4-FFF2-40B4-BE49-F238E27FC236}">
                <a16:creationId xmlns:a16="http://schemas.microsoft.com/office/drawing/2014/main" id="{3DECD52D-92CB-D15B-5008-0666D7F4D89B}"/>
              </a:ext>
            </a:extLst>
          </p:cNvPr>
          <p:cNvSpPr>
            <a:spLocks noGrp="1"/>
          </p:cNvSpPr>
          <p:nvPr>
            <p:ph idx="1"/>
          </p:nvPr>
        </p:nvSpPr>
        <p:spPr>
          <a:xfrm>
            <a:off x="1045028" y="3017522"/>
            <a:ext cx="9941319" cy="3124658"/>
          </a:xfrm>
        </p:spPr>
        <p:txBody>
          <a:bodyPr anchor="ctr">
            <a:normAutofit/>
          </a:bodyPr>
          <a:lstStyle/>
          <a:p>
            <a:pPr marL="0" indent="0">
              <a:buNone/>
            </a:pPr>
            <a:r>
              <a:rPr lang="en-US" sz="2400" b="1" dirty="0"/>
              <a:t>What was the Air Quality Index (AQI) trends and seasonal pattern across NYC counties from 1980 to 2025?</a:t>
            </a:r>
          </a:p>
          <a:p>
            <a:endParaRPr lang="en-US"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944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A1A6F78-C919-46F0-9B0A-2ED388861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49882614-11C4-4368-9534-6EBAC3488C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2684274" y="-4610867"/>
            <a:ext cx="7223503" cy="16095236"/>
          </a:xfrm>
          <a:prstGeom prst="rect">
            <a:avLst/>
          </a:prstGeom>
        </p:spPr>
      </p:pic>
      <p:sp>
        <p:nvSpPr>
          <p:cNvPr id="2" name="Title 1">
            <a:extLst>
              <a:ext uri="{FF2B5EF4-FFF2-40B4-BE49-F238E27FC236}">
                <a16:creationId xmlns:a16="http://schemas.microsoft.com/office/drawing/2014/main" id="{46BBA579-1770-05EB-6BC7-3154B5561EEA}"/>
              </a:ext>
            </a:extLst>
          </p:cNvPr>
          <p:cNvSpPr>
            <a:spLocks noGrp="1"/>
          </p:cNvSpPr>
          <p:nvPr>
            <p:ph type="title"/>
          </p:nvPr>
        </p:nvSpPr>
        <p:spPr>
          <a:xfrm>
            <a:off x="448626" y="276862"/>
            <a:ext cx="3300605" cy="2368324"/>
          </a:xfrm>
        </p:spPr>
        <p:txBody>
          <a:bodyPr anchor="ctr">
            <a:noAutofit/>
          </a:bodyPr>
          <a:lstStyle/>
          <a:p>
            <a:r>
              <a:rPr lang="en-US" sz="4000" kern="1200" dirty="0">
                <a:latin typeface="system-ui"/>
              </a:rPr>
              <a:t>Overall Time Series Trend by Daily Average AQI</a:t>
            </a:r>
            <a:endParaRPr lang="en-US" sz="4000" dirty="0">
              <a:latin typeface="system-ui"/>
            </a:endParaRPr>
          </a:p>
        </p:txBody>
      </p:sp>
      <p:sp>
        <p:nvSpPr>
          <p:cNvPr id="19" name="Rectangle 18">
            <a:extLst>
              <a:ext uri="{FF2B5EF4-FFF2-40B4-BE49-F238E27FC236}">
                <a16:creationId xmlns:a16="http://schemas.microsoft.com/office/drawing/2014/main" id="{93C59B8F-AEFF-4D3A-BA0E-3C4311198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CDDA20C-2B68-2FE2-19F2-231754209962}"/>
              </a:ext>
            </a:extLst>
          </p:cNvPr>
          <p:cNvSpPr>
            <a:spLocks noGrp="1"/>
          </p:cNvSpPr>
          <p:nvPr>
            <p:ph idx="1"/>
          </p:nvPr>
        </p:nvSpPr>
        <p:spPr>
          <a:xfrm>
            <a:off x="209549" y="4309952"/>
            <a:ext cx="11705083" cy="2119424"/>
          </a:xfrm>
        </p:spPr>
        <p:txBody>
          <a:bodyPr anchor="ctr">
            <a:noAutofit/>
          </a:bodyPr>
          <a:lstStyle/>
          <a:p>
            <a:r>
              <a:rPr lang="en-US" sz="1400" kern="100" dirty="0">
                <a:effectLst/>
                <a:latin typeface="Arial" panose="020B0604020202020204" pitchFamily="34" charset="0"/>
                <a:ea typeface="Aptos" panose="020B0004020202020204" pitchFamily="34" charset="0"/>
                <a:cs typeface="Arial" panose="020B0604020202020204" pitchFamily="34" charset="0"/>
              </a:rPr>
              <a:t>A time series plot of daily average AQI of NYC shows high spikes above 150. </a:t>
            </a:r>
          </a:p>
          <a:p>
            <a:r>
              <a:rPr lang="en-US" sz="1400" kern="100" dirty="0">
                <a:effectLst/>
                <a:latin typeface="Arial" panose="020B0604020202020204" pitchFamily="34" charset="0"/>
                <a:ea typeface="Aptos" panose="020B0004020202020204" pitchFamily="34" charset="0"/>
                <a:cs typeface="Arial" panose="020B0604020202020204" pitchFamily="34" charset="0"/>
              </a:rPr>
              <a:t>The overall variability has slightly reduced over the year. </a:t>
            </a:r>
          </a:p>
          <a:p>
            <a:r>
              <a:rPr lang="en-US" sz="1400" kern="100" dirty="0">
                <a:effectLst/>
                <a:latin typeface="Arial" panose="020B0604020202020204" pitchFamily="34" charset="0"/>
                <a:ea typeface="Aptos" panose="020B0004020202020204" pitchFamily="34" charset="0"/>
                <a:cs typeface="Arial" panose="020B0604020202020204" pitchFamily="34" charset="0"/>
              </a:rPr>
              <a:t>However, the recurring spikes remains- potentially due to some seasonal causes such as summer ozone levels, wildfire smokes, winter heating emissions etc. </a:t>
            </a:r>
          </a:p>
          <a:p>
            <a:r>
              <a:rPr lang="en-US" sz="1400" kern="100" dirty="0">
                <a:effectLst/>
                <a:latin typeface="Arial" panose="020B0604020202020204" pitchFamily="34" charset="0"/>
                <a:ea typeface="Aptos" panose="020B0004020202020204" pitchFamily="34" charset="0"/>
                <a:cs typeface="Arial" panose="020B0604020202020204" pitchFamily="34" charset="0"/>
              </a:rPr>
              <a:t>Another notable spike is seen in 2023 that was over 200, could be linked to wildfire events in Canada. This is further evident from New York State Department Of Health’s report found here: </a:t>
            </a:r>
            <a:r>
              <a:rPr lang="en-US" sz="1400" u="sng" kern="100" dirty="0">
                <a:effectLst/>
                <a:latin typeface="Arial" panose="020B0604020202020204" pitchFamily="34" charset="0"/>
                <a:ea typeface="Aptos" panose="020B0004020202020204" pitchFamily="34" charset="0"/>
                <a:cs typeface="Arial" panose="020B0604020202020204" pitchFamily="34" charset="0"/>
                <a:hlinkClick r:id="rId3"/>
              </a:rPr>
              <a:t>https://www.health.state.ny.us/press/releases/2023/2023-08-24_study_asthma_related_er_visits.htm</a:t>
            </a:r>
            <a:r>
              <a:rPr lang="en-US" sz="1400" kern="100" dirty="0">
                <a:effectLst/>
                <a:latin typeface="Arial" panose="020B0604020202020204" pitchFamily="34" charset="0"/>
                <a:ea typeface="Aptos" panose="020B0004020202020204" pitchFamily="34" charset="0"/>
                <a:cs typeface="Arial" panose="020B0604020202020204" pitchFamily="34" charset="0"/>
              </a:rPr>
              <a:t>. </a:t>
            </a:r>
          </a:p>
          <a:p>
            <a:r>
              <a:rPr lang="en-US" sz="1400" kern="100" dirty="0">
                <a:effectLst/>
                <a:latin typeface="Arial" panose="020B0604020202020204" pitchFamily="34" charset="0"/>
                <a:ea typeface="Aptos" panose="020B0004020202020204" pitchFamily="34" charset="0"/>
                <a:cs typeface="Arial" panose="020B0604020202020204" pitchFamily="34" charset="0"/>
              </a:rPr>
              <a:t>This seasonal pattern also suggests careful consideration while applying machine learning techniques.</a:t>
            </a:r>
          </a:p>
        </p:txBody>
      </p:sp>
      <p:sp>
        <p:nvSpPr>
          <p:cNvPr id="20" name="Rectangle 19">
            <a:extLst>
              <a:ext uri="{FF2B5EF4-FFF2-40B4-BE49-F238E27FC236}">
                <a16:creationId xmlns:a16="http://schemas.microsoft.com/office/drawing/2014/main" id="{E042CD37-C859-44CD-853E-5A3427DDB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3451EBEE-2172-C5A1-4756-AC64CB1CDA0D}"/>
              </a:ext>
            </a:extLst>
          </p:cNvPr>
          <p:cNvPicPr>
            <a:picLocks noChangeAspect="1"/>
          </p:cNvPicPr>
          <p:nvPr/>
        </p:nvPicPr>
        <p:blipFill>
          <a:blip r:embed="rId4"/>
          <a:stretch>
            <a:fillRect/>
          </a:stretch>
        </p:blipFill>
        <p:spPr>
          <a:xfrm>
            <a:off x="3988308" y="162552"/>
            <a:ext cx="7722489" cy="4147400"/>
          </a:xfrm>
          <a:prstGeom prst="rect">
            <a:avLst/>
          </a:prstGeom>
        </p:spPr>
      </p:pic>
    </p:spTree>
    <p:extLst>
      <p:ext uri="{BB962C8B-B14F-4D97-AF65-F5344CB8AC3E}">
        <p14:creationId xmlns:p14="http://schemas.microsoft.com/office/powerpoint/2010/main" val="2417629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00CD04-8F71-716A-D9A4-42D91BD5AFD4}"/>
              </a:ext>
            </a:extLst>
          </p:cNvPr>
          <p:cNvSpPr>
            <a:spLocks noGrp="1"/>
          </p:cNvSpPr>
          <p:nvPr>
            <p:ph type="title"/>
          </p:nvPr>
        </p:nvSpPr>
        <p:spPr>
          <a:xfrm>
            <a:off x="630936" y="639520"/>
            <a:ext cx="3429000" cy="1719072"/>
          </a:xfrm>
        </p:spPr>
        <p:txBody>
          <a:bodyPr anchor="b">
            <a:normAutofit/>
          </a:bodyPr>
          <a:lstStyle/>
          <a:p>
            <a:r>
              <a:rPr lang="en-US" sz="4200" b="0" i="0" dirty="0">
                <a:effectLst/>
                <a:latin typeface="system-ui"/>
              </a:rPr>
              <a:t>Yearly Trend of Average AQI</a:t>
            </a:r>
            <a:endParaRPr lang="en-US" sz="4200" dirty="0"/>
          </a:p>
        </p:txBody>
      </p:sp>
      <p:sp>
        <p:nvSpPr>
          <p:cNvPr id="45"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E6CBE90-5676-3E47-6CB3-FB1C5E2DB35D}"/>
              </a:ext>
            </a:extLst>
          </p:cNvPr>
          <p:cNvSpPr>
            <a:spLocks noGrp="1"/>
          </p:cNvSpPr>
          <p:nvPr>
            <p:ph idx="1"/>
          </p:nvPr>
        </p:nvSpPr>
        <p:spPr>
          <a:xfrm>
            <a:off x="630936" y="2807208"/>
            <a:ext cx="3429000" cy="3410712"/>
          </a:xfrm>
        </p:spPr>
        <p:txBody>
          <a:bodyPr anchor="t">
            <a:noAutofit/>
          </a:bodyPr>
          <a:lstStyle/>
          <a:p>
            <a:r>
              <a:rPr lang="en-US" sz="1400" dirty="0"/>
              <a:t>The line plot illustrates how the average AQI has changed over the year in NYC. </a:t>
            </a:r>
          </a:p>
          <a:p>
            <a:r>
              <a:rPr lang="en-US" sz="1400" dirty="0"/>
              <a:t>In general, the line shows a downward trend with some occasional spikes and falls. </a:t>
            </a:r>
          </a:p>
          <a:p>
            <a:r>
              <a:rPr lang="en-US" sz="1400" dirty="0"/>
              <a:t>In this timespan, the highest average AQI in NYC was recorded in 1985, and the lowest was recorded in 1992 (the average AQI for 2025 seems lower, but that is due to incomplete year data). </a:t>
            </a:r>
          </a:p>
          <a:p>
            <a:r>
              <a:rPr lang="en-US" sz="1400" dirty="0"/>
              <a:t>In recent years, the air quality index has been consistently below 50, which is further confirmed in the IQAIR’s analysis, found here: </a:t>
            </a:r>
            <a:r>
              <a:rPr lang="en-US" sz="1400" dirty="0">
                <a:hlinkClick r:id="rId2"/>
              </a:rPr>
              <a:t>https://www.iqair.com/us/usa/new-york/new-york</a:t>
            </a:r>
            <a:endParaRPr lang="en-US" sz="1400" dirty="0"/>
          </a:p>
        </p:txBody>
      </p:sp>
      <p:pic>
        <p:nvPicPr>
          <p:cNvPr id="46" name="Picture 45">
            <a:extLst>
              <a:ext uri="{FF2B5EF4-FFF2-40B4-BE49-F238E27FC236}">
                <a16:creationId xmlns:a16="http://schemas.microsoft.com/office/drawing/2014/main" id="{8DBABAF4-2B2D-6214-6CAF-1A4A315FF96A}"/>
              </a:ext>
            </a:extLst>
          </p:cNvPr>
          <p:cNvPicPr>
            <a:picLocks noChangeAspect="1"/>
          </p:cNvPicPr>
          <p:nvPr/>
        </p:nvPicPr>
        <p:blipFill>
          <a:blip r:embed="rId3"/>
          <a:stretch>
            <a:fillRect/>
          </a:stretch>
        </p:blipFill>
        <p:spPr>
          <a:xfrm>
            <a:off x="4097372" y="712411"/>
            <a:ext cx="7895628" cy="5448740"/>
          </a:xfrm>
          <a:prstGeom prst="rect">
            <a:avLst/>
          </a:prstGeom>
        </p:spPr>
      </p:pic>
    </p:spTree>
    <p:extLst>
      <p:ext uri="{BB962C8B-B14F-4D97-AF65-F5344CB8AC3E}">
        <p14:creationId xmlns:p14="http://schemas.microsoft.com/office/powerpoint/2010/main" val="2103746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137699-183B-7108-BBCE-E35BD2D0F830}"/>
              </a:ext>
            </a:extLst>
          </p:cNvPr>
          <p:cNvSpPr>
            <a:spLocks noGrp="1"/>
          </p:cNvSpPr>
          <p:nvPr>
            <p:ph type="title"/>
          </p:nvPr>
        </p:nvSpPr>
        <p:spPr>
          <a:xfrm>
            <a:off x="429768" y="411480"/>
            <a:ext cx="11201400" cy="1106424"/>
          </a:xfrm>
        </p:spPr>
        <p:txBody>
          <a:bodyPr>
            <a:normAutofit/>
          </a:bodyPr>
          <a:lstStyle/>
          <a:p>
            <a:r>
              <a:rPr lang="en-US" sz="3600" dirty="0"/>
              <a:t>Seasonal Pattern of Average AQI by Month</a:t>
            </a:r>
          </a:p>
        </p:txBody>
      </p:sp>
      <p:sp>
        <p:nvSpPr>
          <p:cNvPr id="14" name="Rectangle 13">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descr="A graph with numbers and lines&#10;&#10;AI-generated content may be incorrect.">
            <a:extLst>
              <a:ext uri="{FF2B5EF4-FFF2-40B4-BE49-F238E27FC236}">
                <a16:creationId xmlns:a16="http://schemas.microsoft.com/office/drawing/2014/main" id="{5FC76FA5-8380-9593-0999-64456BEBF537}"/>
              </a:ext>
            </a:extLst>
          </p:cNvPr>
          <p:cNvPicPr>
            <a:picLocks noChangeAspect="1"/>
          </p:cNvPicPr>
          <p:nvPr/>
        </p:nvPicPr>
        <p:blipFill>
          <a:blip r:embed="rId2"/>
          <a:stretch>
            <a:fillRect/>
          </a:stretch>
        </p:blipFill>
        <p:spPr>
          <a:xfrm>
            <a:off x="687115" y="1719072"/>
            <a:ext cx="6187858" cy="4517136"/>
          </a:xfrm>
          <a:prstGeom prst="rect">
            <a:avLst/>
          </a:prstGeom>
        </p:spPr>
      </p:pic>
      <p:sp useBgFill="1">
        <p:nvSpPr>
          <p:cNvPr id="16" name="Rectangle 15">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FF2C9F2-03C5-89DF-CA72-FF43E19553D0}"/>
              </a:ext>
            </a:extLst>
          </p:cNvPr>
          <p:cNvSpPr>
            <a:spLocks noGrp="1"/>
          </p:cNvSpPr>
          <p:nvPr>
            <p:ph idx="1"/>
          </p:nvPr>
        </p:nvSpPr>
        <p:spPr>
          <a:xfrm>
            <a:off x="7938752" y="2020824"/>
            <a:ext cx="3455097" cy="3959352"/>
          </a:xfrm>
        </p:spPr>
        <p:txBody>
          <a:bodyPr anchor="ctr">
            <a:normAutofit/>
          </a:bodyPr>
          <a:lstStyle/>
          <a:p>
            <a:r>
              <a:rPr lang="en-US" sz="1500" dirty="0"/>
              <a:t>Winter months (November - February) usually have moderate AQI levels, indicating stable air quality</a:t>
            </a:r>
          </a:p>
          <a:p>
            <a:r>
              <a:rPr lang="en-US" sz="1500" dirty="0"/>
              <a:t>In the early spring, the AQI values slightly declines reaching a local minimum in March</a:t>
            </a:r>
          </a:p>
          <a:p>
            <a:r>
              <a:rPr lang="en-US" sz="1500" dirty="0"/>
              <a:t>AQI level starts increasing from April and peaking in July, showing the worst average AQI of the year- probably driven by higher temperatures, increased ozone formation and wildfires</a:t>
            </a:r>
          </a:p>
          <a:p>
            <a:r>
              <a:rPr lang="en-US" sz="1500" dirty="0"/>
              <a:t>The AQI level drops drastically through August and September, touching the bottom with lowest AQI of the year in October</a:t>
            </a:r>
          </a:p>
        </p:txBody>
      </p:sp>
    </p:spTree>
    <p:extLst>
      <p:ext uri="{BB962C8B-B14F-4D97-AF65-F5344CB8AC3E}">
        <p14:creationId xmlns:p14="http://schemas.microsoft.com/office/powerpoint/2010/main" val="2980846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C8586B-6F5B-96C0-F997-1322E14E19F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E761C0-E101-BD58-C6C2-DBC5D03447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CE08F36-32EB-151F-27A5-11D1F73C02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CC59EC16-12BD-E7B4-C2EF-7365A10DB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18F1055-0BB0-469A-EBB4-80887AE4E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CC82D67-AE60-43AC-FB13-46826334F8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6480BC37-AAB7-F2DE-CEE7-64F2EA1F2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48104B-D12B-FB4D-BEE7-98C799AF2EC3}"/>
              </a:ext>
            </a:extLst>
          </p:cNvPr>
          <p:cNvSpPr>
            <a:spLocks noGrp="1"/>
          </p:cNvSpPr>
          <p:nvPr>
            <p:ph type="title"/>
          </p:nvPr>
        </p:nvSpPr>
        <p:spPr>
          <a:xfrm>
            <a:off x="1043631" y="809898"/>
            <a:ext cx="9942716" cy="1554480"/>
          </a:xfrm>
        </p:spPr>
        <p:txBody>
          <a:bodyPr anchor="ctr">
            <a:normAutofit/>
          </a:bodyPr>
          <a:lstStyle/>
          <a:p>
            <a:r>
              <a:rPr lang="en-US" sz="4800" dirty="0"/>
              <a:t>Research Question 2</a:t>
            </a:r>
          </a:p>
        </p:txBody>
      </p:sp>
      <p:sp>
        <p:nvSpPr>
          <p:cNvPr id="3" name="Content Placeholder 2">
            <a:extLst>
              <a:ext uri="{FF2B5EF4-FFF2-40B4-BE49-F238E27FC236}">
                <a16:creationId xmlns:a16="http://schemas.microsoft.com/office/drawing/2014/main" id="{C1519238-FFF4-9BD1-6EB0-0959B902E64B}"/>
              </a:ext>
            </a:extLst>
          </p:cNvPr>
          <p:cNvSpPr>
            <a:spLocks noGrp="1"/>
          </p:cNvSpPr>
          <p:nvPr>
            <p:ph idx="1"/>
          </p:nvPr>
        </p:nvSpPr>
        <p:spPr>
          <a:xfrm>
            <a:off x="1045028" y="3017522"/>
            <a:ext cx="9941319" cy="3124658"/>
          </a:xfrm>
        </p:spPr>
        <p:txBody>
          <a:bodyPr anchor="ctr">
            <a:normAutofit/>
          </a:bodyPr>
          <a:lstStyle/>
          <a:p>
            <a:pPr marL="0" indent="0">
              <a:buNone/>
            </a:pPr>
            <a:r>
              <a:rPr lang="en-US" sz="2400" b="1" dirty="0"/>
              <a:t>Can deep learning time series models forecast future AQI levels accurately?</a:t>
            </a:r>
          </a:p>
        </p:txBody>
      </p:sp>
      <p:cxnSp>
        <p:nvCxnSpPr>
          <p:cNvPr id="17" name="Straight Connector 16">
            <a:extLst>
              <a:ext uri="{FF2B5EF4-FFF2-40B4-BE49-F238E27FC236}">
                <a16:creationId xmlns:a16="http://schemas.microsoft.com/office/drawing/2014/main" id="{9FBE7C0C-FECF-47C2-0528-4D342D12DD8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496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31" name="Rectangle 113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7BF40-879B-DCE1-A82B-E86F186C7AA0}"/>
              </a:ext>
            </a:extLst>
          </p:cNvPr>
          <p:cNvSpPr>
            <a:spLocks noGrp="1"/>
          </p:cNvSpPr>
          <p:nvPr>
            <p:ph type="title"/>
          </p:nvPr>
        </p:nvSpPr>
        <p:spPr>
          <a:xfrm>
            <a:off x="572493" y="238539"/>
            <a:ext cx="11018520" cy="1434415"/>
          </a:xfrm>
        </p:spPr>
        <p:txBody>
          <a:bodyPr anchor="b">
            <a:normAutofit/>
          </a:bodyPr>
          <a:lstStyle/>
          <a:p>
            <a:r>
              <a:rPr lang="en-US" sz="5400"/>
              <a:t>Long Short-Term Memory (LSTM)</a:t>
            </a:r>
            <a:endParaRPr lang="en-US" sz="5400" dirty="0"/>
          </a:p>
        </p:txBody>
      </p:sp>
      <p:sp>
        <p:nvSpPr>
          <p:cNvPr id="113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Content Placeholder 2">
            <a:extLst>
              <a:ext uri="{FF2B5EF4-FFF2-40B4-BE49-F238E27FC236}">
                <a16:creationId xmlns:a16="http://schemas.microsoft.com/office/drawing/2014/main" id="{53C751EF-C196-2909-C63D-AC448F6B253A}"/>
              </a:ext>
            </a:extLst>
          </p:cNvPr>
          <p:cNvSpPr>
            <a:spLocks noGrp="1"/>
          </p:cNvSpPr>
          <p:nvPr>
            <p:ph idx="1"/>
          </p:nvPr>
        </p:nvSpPr>
        <p:spPr>
          <a:xfrm>
            <a:off x="572493" y="2071315"/>
            <a:ext cx="5980707" cy="4067231"/>
          </a:xfrm>
        </p:spPr>
        <p:txBody>
          <a:bodyPr anchor="t">
            <a:normAutofit fontScale="92500" lnSpcReduction="10000"/>
          </a:bodyPr>
          <a:lstStyle/>
          <a:p>
            <a:r>
              <a:rPr lang="en-US" sz="1600" dirty="0">
                <a:effectLst/>
              </a:rPr>
              <a:t>Long Short-Term Memory (LSTM) is a kind of recurrent neural network (RNN) created to manage sequential data and understand temporal dependencies.</a:t>
            </a:r>
          </a:p>
          <a:p>
            <a:endParaRPr lang="en-US" sz="1600" dirty="0">
              <a:effectLst/>
            </a:endParaRPr>
          </a:p>
          <a:p>
            <a:r>
              <a:rPr lang="en-US" sz="1600" dirty="0">
                <a:effectLst/>
              </a:rPr>
              <a:t>Conventional RNNs are built to process sequential data by preserving a hidden state that retains information from earlier time points. Nonetheless, they face challenges with long-term dependencies because of:</a:t>
            </a:r>
          </a:p>
          <a:p>
            <a:pPr lvl="1">
              <a:buFont typeface="Wingdings" panose="05000000000000000000" pitchFamily="2" charset="2"/>
              <a:buChar char="v"/>
            </a:pPr>
            <a:r>
              <a:rPr lang="en-US" sz="1600" dirty="0">
                <a:effectLst/>
              </a:rPr>
              <a:t>Disappearing Gradients: Throughout backpropagation, gradients may reduce exponentially, hindering the network's ability to learn long-range relationships.</a:t>
            </a:r>
          </a:p>
          <a:p>
            <a:pPr lvl="1">
              <a:buFont typeface="Wingdings" panose="05000000000000000000" pitchFamily="2" charset="2"/>
              <a:buChar char="v"/>
            </a:pPr>
            <a:r>
              <a:rPr lang="en-US" sz="1600" dirty="0">
                <a:effectLst/>
              </a:rPr>
              <a:t>Exploding Gradients: On the other hand, gradients may increase exponentially, leading to numerical instability.</a:t>
            </a:r>
          </a:p>
          <a:p>
            <a:pPr lvl="1">
              <a:buFont typeface="Wingdings" panose="05000000000000000000" pitchFamily="2" charset="2"/>
              <a:buChar char="v"/>
            </a:pPr>
            <a:endParaRPr lang="en-US" sz="1600" dirty="0">
              <a:effectLst/>
            </a:endParaRPr>
          </a:p>
          <a:p>
            <a:r>
              <a:rPr lang="en-US" sz="1600" dirty="0">
                <a:effectLst/>
              </a:rPr>
              <a:t>LSTMs address these problems by incorporating a memory cell and gating mechanisms that regulate information flow, enabling the network to efficiently preserve and revise its memory over time [2].</a:t>
            </a:r>
          </a:p>
        </p:txBody>
      </p:sp>
      <p:pic>
        <p:nvPicPr>
          <p:cNvPr id="1028" name="Picture 4">
            <a:extLst>
              <a:ext uri="{FF2B5EF4-FFF2-40B4-BE49-F238E27FC236}">
                <a16:creationId xmlns:a16="http://schemas.microsoft.com/office/drawing/2014/main" id="{9C0DCE40-5590-390B-ED81-658603299B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6173" y="2532040"/>
            <a:ext cx="5051965" cy="2886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570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7ABD2F-95D2-5B83-DFA4-38E2B0483E20}"/>
              </a:ext>
            </a:extLst>
          </p:cNvPr>
          <p:cNvSpPr>
            <a:spLocks noGrp="1"/>
          </p:cNvSpPr>
          <p:nvPr>
            <p:ph type="title"/>
          </p:nvPr>
        </p:nvSpPr>
        <p:spPr>
          <a:xfrm>
            <a:off x="517343" y="548640"/>
            <a:ext cx="4008089" cy="5431536"/>
          </a:xfrm>
        </p:spPr>
        <p:txBody>
          <a:bodyPr>
            <a:normAutofit/>
          </a:bodyPr>
          <a:lstStyle/>
          <a:p>
            <a:r>
              <a:rPr lang="en-US" sz="5400" dirty="0"/>
              <a:t>Why LSTM is Appropriate for AQI Forecasting</a:t>
            </a:r>
          </a:p>
        </p:txBody>
      </p:sp>
      <p:sp>
        <p:nvSpPr>
          <p:cNvPr id="5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Content Placeholder 2">
            <a:extLst>
              <a:ext uri="{FF2B5EF4-FFF2-40B4-BE49-F238E27FC236}">
                <a16:creationId xmlns:a16="http://schemas.microsoft.com/office/drawing/2014/main" id="{5546D7AB-50B4-A171-3708-DBB95EDFC23A}"/>
              </a:ext>
            </a:extLst>
          </p:cNvPr>
          <p:cNvSpPr>
            <a:spLocks noGrp="1"/>
          </p:cNvSpPr>
          <p:nvPr>
            <p:ph idx="1"/>
          </p:nvPr>
        </p:nvSpPr>
        <p:spPr>
          <a:xfrm>
            <a:off x="5126418" y="552091"/>
            <a:ext cx="6224335" cy="5431536"/>
          </a:xfrm>
        </p:spPr>
        <p:txBody>
          <a:bodyPr anchor="ctr">
            <a:normAutofit/>
          </a:bodyPr>
          <a:lstStyle/>
          <a:p>
            <a:r>
              <a:rPr lang="en-US" sz="1900" b="1" dirty="0">
                <a:effectLst/>
              </a:rPr>
              <a:t>Grasps Time-Based Relations: </a:t>
            </a:r>
            <a:r>
              <a:rPr lang="en-US" sz="1900" dirty="0">
                <a:effectLst/>
              </a:rPr>
              <a:t>LSTM can identify trends across time, making it suitable for time series such as AQI.</a:t>
            </a:r>
            <a:br>
              <a:rPr lang="en-US" sz="1900" dirty="0">
                <a:effectLst/>
              </a:rPr>
            </a:br>
            <a:endParaRPr lang="en-US" sz="1900" dirty="0">
              <a:effectLst/>
            </a:endParaRPr>
          </a:p>
          <a:p>
            <a:r>
              <a:rPr lang="en-US" sz="1900" b="1" dirty="0">
                <a:effectLst/>
              </a:rPr>
              <a:t>Manages Extended Trends: </a:t>
            </a:r>
            <a:r>
              <a:rPr lang="en-US" sz="1900" dirty="0">
                <a:effectLst/>
              </a:rPr>
              <a:t>In contrast to basic RNNs, LSTM retains information for extended durations, which is beneficial for seasonal or annual AQI trends.</a:t>
            </a:r>
            <a:br>
              <a:rPr lang="en-US" sz="1900" dirty="0">
                <a:effectLst/>
              </a:rPr>
            </a:br>
            <a:endParaRPr lang="en-US" sz="1900" dirty="0">
              <a:effectLst/>
            </a:endParaRPr>
          </a:p>
          <a:p>
            <a:r>
              <a:rPr lang="en-US" sz="1900" b="1" dirty="0">
                <a:effectLst/>
              </a:rPr>
              <a:t>Resilient to Incomplete Data: </a:t>
            </a:r>
            <a:r>
              <a:rPr lang="en-US" sz="1900" dirty="0">
                <a:effectLst/>
              </a:rPr>
              <a:t>LSTM is capable of handling inconsistencies in measurement intervals typical in environmental data.</a:t>
            </a:r>
            <a:br>
              <a:rPr lang="en-US" sz="1900" dirty="0">
                <a:effectLst/>
              </a:rPr>
            </a:br>
            <a:endParaRPr lang="en-US" sz="1900" dirty="0">
              <a:effectLst/>
            </a:endParaRPr>
          </a:p>
          <a:p>
            <a:r>
              <a:rPr lang="en-US" sz="1900" b="1" dirty="0">
                <a:effectLst/>
              </a:rPr>
              <a:t>Non-linear Connections: </a:t>
            </a:r>
            <a:r>
              <a:rPr lang="en-US" sz="1900" dirty="0">
                <a:effectLst/>
              </a:rPr>
              <a:t>AQI relies on various interacting elements (climate, emissions, etc.), which LSTM can model proficiently.</a:t>
            </a:r>
            <a:br>
              <a:rPr lang="en-US" sz="1900" dirty="0">
                <a:effectLst/>
              </a:rPr>
            </a:br>
            <a:endParaRPr lang="en-US" sz="1900" dirty="0">
              <a:effectLst/>
            </a:endParaRPr>
          </a:p>
          <a:p>
            <a:r>
              <a:rPr lang="en-US" sz="1900" b="1" dirty="0">
                <a:effectLst/>
              </a:rPr>
              <a:t>Adaptive Forecasting: </a:t>
            </a:r>
            <a:r>
              <a:rPr lang="en-US" sz="1900" dirty="0">
                <a:effectLst/>
              </a:rPr>
              <a:t>LSTM can revise forecasts with incoming data, enabling dynamic AQI predictions [3].</a:t>
            </a:r>
          </a:p>
        </p:txBody>
      </p:sp>
    </p:spTree>
    <p:extLst>
      <p:ext uri="{BB962C8B-B14F-4D97-AF65-F5344CB8AC3E}">
        <p14:creationId xmlns:p14="http://schemas.microsoft.com/office/powerpoint/2010/main" val="2342254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28B349-87E6-8419-67B5-D7EEFAF6EEDF}"/>
              </a:ext>
            </a:extLst>
          </p:cNvPr>
          <p:cNvSpPr>
            <a:spLocks noGrp="1"/>
          </p:cNvSpPr>
          <p:nvPr>
            <p:ph type="title"/>
          </p:nvPr>
        </p:nvSpPr>
        <p:spPr>
          <a:xfrm>
            <a:off x="589560" y="856180"/>
            <a:ext cx="4560584" cy="1128068"/>
          </a:xfrm>
        </p:spPr>
        <p:txBody>
          <a:bodyPr anchor="ctr">
            <a:normAutofit/>
          </a:bodyPr>
          <a:lstStyle/>
          <a:p>
            <a:r>
              <a:rPr lang="en-US" sz="3700"/>
              <a:t>Data Pre-processing for LSTM Model</a:t>
            </a:r>
          </a:p>
        </p:txBody>
      </p:sp>
      <p:grpSp>
        <p:nvGrpSpPr>
          <p:cNvPr id="125" name="Group 12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6" name="Rectangle 1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7" name="Rectangle 12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AI-generated content may be incorrect.">
            <a:extLst>
              <a:ext uri="{FF2B5EF4-FFF2-40B4-BE49-F238E27FC236}">
                <a16:creationId xmlns:a16="http://schemas.microsoft.com/office/drawing/2014/main" id="{BE767170-2F53-4C4B-C8D2-D78A3E3D2A61}"/>
              </a:ext>
            </a:extLst>
          </p:cNvPr>
          <p:cNvPicPr>
            <a:picLocks noChangeAspect="1"/>
          </p:cNvPicPr>
          <p:nvPr/>
        </p:nvPicPr>
        <p:blipFill>
          <a:blip r:embed="rId2"/>
          <a:srcRect r="4" b="69"/>
          <a:stretch>
            <a:fillRect/>
          </a:stretch>
        </p:blipFill>
        <p:spPr>
          <a:xfrm>
            <a:off x="5977788" y="799352"/>
            <a:ext cx="5425410" cy="5259296"/>
          </a:xfrm>
          <a:prstGeom prst="rect">
            <a:avLst/>
          </a:prstGeom>
        </p:spPr>
      </p:pic>
      <p:graphicFrame>
        <p:nvGraphicFramePr>
          <p:cNvPr id="7" name="Content Placeholder 2">
            <a:extLst>
              <a:ext uri="{FF2B5EF4-FFF2-40B4-BE49-F238E27FC236}">
                <a16:creationId xmlns:a16="http://schemas.microsoft.com/office/drawing/2014/main" id="{CB4E2446-E858-3190-C498-FF8D90D22FEC}"/>
              </a:ext>
            </a:extLst>
          </p:cNvPr>
          <p:cNvGraphicFramePr>
            <a:graphicFrameLocks noGrp="1"/>
          </p:cNvGraphicFramePr>
          <p:nvPr>
            <p:ph idx="1"/>
            <p:extLst>
              <p:ext uri="{D42A27DB-BD31-4B8C-83A1-F6EECF244321}">
                <p14:modId xmlns:p14="http://schemas.microsoft.com/office/powerpoint/2010/main" val="1028862445"/>
              </p:ext>
            </p:extLst>
          </p:nvPr>
        </p:nvGraphicFramePr>
        <p:xfrm>
          <a:off x="590719" y="2330505"/>
          <a:ext cx="4559425" cy="3979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8288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9" name="Rectangle 14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0" name="Freeform: Shape 14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1" name="Freeform: Shape 150">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FECE70-D561-5A29-D566-9607BF7A0189}"/>
              </a:ext>
            </a:extLst>
          </p:cNvPr>
          <p:cNvSpPr>
            <a:spLocks noGrp="1"/>
          </p:cNvSpPr>
          <p:nvPr>
            <p:ph type="title"/>
          </p:nvPr>
        </p:nvSpPr>
        <p:spPr>
          <a:xfrm>
            <a:off x="371094" y="1161288"/>
            <a:ext cx="3438144" cy="1239012"/>
          </a:xfrm>
        </p:spPr>
        <p:txBody>
          <a:bodyPr anchor="ctr">
            <a:normAutofit/>
          </a:bodyPr>
          <a:lstStyle/>
          <a:p>
            <a:r>
              <a:rPr lang="en-US" sz="2800" dirty="0"/>
              <a:t>Build LSTM Model, Train and Predict</a:t>
            </a:r>
          </a:p>
        </p:txBody>
      </p:sp>
      <p:sp>
        <p:nvSpPr>
          <p:cNvPr id="152" name="Rectangle 151">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3" name="Rectangle 15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B471866-C6BB-B376-FD8B-398BBE62837E}"/>
              </a:ext>
            </a:extLst>
          </p:cNvPr>
          <p:cNvSpPr>
            <a:spLocks noGrp="1"/>
          </p:cNvSpPr>
          <p:nvPr>
            <p:ph idx="1"/>
          </p:nvPr>
        </p:nvSpPr>
        <p:spPr>
          <a:xfrm>
            <a:off x="371094" y="2718054"/>
            <a:ext cx="3438906" cy="3207258"/>
          </a:xfrm>
        </p:spPr>
        <p:txBody>
          <a:bodyPr anchor="t">
            <a:normAutofit/>
          </a:bodyPr>
          <a:lstStyle/>
          <a:p>
            <a:r>
              <a:rPr lang="en-US" sz="1100" b="1" dirty="0"/>
              <a:t>Split train and test data: </a:t>
            </a:r>
            <a:r>
              <a:rPr lang="en-US" sz="1100" dirty="0">
                <a:effectLst/>
              </a:rPr>
              <a:t>The dataset is divided into training (80%) and testing (20%) sets</a:t>
            </a:r>
            <a:endParaRPr lang="en-US" sz="1100" dirty="0"/>
          </a:p>
          <a:p>
            <a:r>
              <a:rPr lang="en-US" sz="1100" b="1" dirty="0"/>
              <a:t>Build LSTM model: </a:t>
            </a:r>
            <a:r>
              <a:rPr lang="en-US" sz="1100" dirty="0">
                <a:effectLst/>
              </a:rPr>
              <a:t>The model employs a single LSTM layer containing 50 units, succeeded by a Dense output layer to forecast the subsequent AQI value.</a:t>
            </a:r>
            <a:endParaRPr lang="en-US" sz="1100" dirty="0"/>
          </a:p>
          <a:p>
            <a:r>
              <a:rPr lang="en-US" sz="1100" b="1" dirty="0"/>
              <a:t>Train the model: </a:t>
            </a:r>
            <a:r>
              <a:rPr lang="en-US" sz="1100" dirty="0">
                <a:effectLst/>
              </a:rPr>
              <a:t>The model utilizes the Adam (Adaptive Moment Estimation) optimizer alongside the mean squared error (MSE) loss function for training. Training is conducted for 20 epochs with a batch size of 10, and a segment of the training data is utilized for validation.</a:t>
            </a:r>
            <a:endParaRPr lang="en-US" sz="1100" dirty="0"/>
          </a:p>
          <a:p>
            <a:r>
              <a:rPr lang="en-US" sz="1100" b="1" dirty="0"/>
              <a:t>Forecast the AQI value: </a:t>
            </a:r>
            <a:r>
              <a:rPr lang="en-US" sz="1100" dirty="0">
                <a:effectLst/>
              </a:rPr>
              <a:t>The trained LSTM model produces AQI predictions for the test dataset.</a:t>
            </a:r>
            <a:endParaRPr lang="en-US" sz="1100" dirty="0"/>
          </a:p>
          <a:p>
            <a:r>
              <a:rPr lang="en-US" sz="1100" b="1" dirty="0"/>
              <a:t>Inverse the scale: </a:t>
            </a:r>
            <a:r>
              <a:rPr lang="en-US" sz="1100" dirty="0">
                <a:effectLst/>
              </a:rPr>
              <a:t>AQI values are converted back to their original scale by applying the inverse of the normalization process</a:t>
            </a:r>
          </a:p>
        </p:txBody>
      </p:sp>
      <p:pic>
        <p:nvPicPr>
          <p:cNvPr id="5" name="Picture 4">
            <a:extLst>
              <a:ext uri="{FF2B5EF4-FFF2-40B4-BE49-F238E27FC236}">
                <a16:creationId xmlns:a16="http://schemas.microsoft.com/office/drawing/2014/main" id="{6D7B1D6C-0701-6000-0802-2F557385595E}"/>
              </a:ext>
            </a:extLst>
          </p:cNvPr>
          <p:cNvPicPr>
            <a:picLocks noChangeAspect="1"/>
          </p:cNvPicPr>
          <p:nvPr/>
        </p:nvPicPr>
        <p:blipFill>
          <a:blip r:embed="rId2"/>
          <a:stretch>
            <a:fillRect/>
          </a:stretch>
        </p:blipFill>
        <p:spPr>
          <a:xfrm>
            <a:off x="4901184" y="1800705"/>
            <a:ext cx="6922008" cy="3357173"/>
          </a:xfrm>
          <a:prstGeom prst="rect">
            <a:avLst/>
          </a:prstGeom>
        </p:spPr>
      </p:pic>
    </p:spTree>
    <p:extLst>
      <p:ext uri="{BB962C8B-B14F-4D97-AF65-F5344CB8AC3E}">
        <p14:creationId xmlns:p14="http://schemas.microsoft.com/office/powerpoint/2010/main" val="2469143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0" name="Rectangle 89">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28803D-CB18-069D-B39A-9F56CE1BFE65}"/>
              </a:ext>
            </a:extLst>
          </p:cNvPr>
          <p:cNvSpPr>
            <a:spLocks noGrp="1"/>
          </p:cNvSpPr>
          <p:nvPr>
            <p:ph type="title"/>
          </p:nvPr>
        </p:nvSpPr>
        <p:spPr>
          <a:xfrm>
            <a:off x="838196" y="978408"/>
            <a:ext cx="6007608" cy="1106424"/>
          </a:xfrm>
        </p:spPr>
        <p:txBody>
          <a:bodyPr>
            <a:normAutofit/>
          </a:bodyPr>
          <a:lstStyle/>
          <a:p>
            <a:r>
              <a:rPr lang="en-US" sz="2800" dirty="0"/>
              <a:t>LSTM Model Evaluation</a:t>
            </a:r>
          </a:p>
        </p:txBody>
      </p:sp>
      <p:sp>
        <p:nvSpPr>
          <p:cNvPr id="89" name="Rectangle 88">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2" name="Rectangle 91">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673902D-32D4-CD9C-60C6-604CC0B50226}"/>
              </a:ext>
            </a:extLst>
          </p:cNvPr>
          <p:cNvSpPr>
            <a:spLocks noGrp="1"/>
          </p:cNvSpPr>
          <p:nvPr>
            <p:ph idx="1"/>
          </p:nvPr>
        </p:nvSpPr>
        <p:spPr>
          <a:xfrm>
            <a:off x="841244" y="2359152"/>
            <a:ext cx="6007608" cy="3429000"/>
          </a:xfrm>
        </p:spPr>
        <p:txBody>
          <a:bodyPr>
            <a:normAutofit/>
          </a:bodyPr>
          <a:lstStyle/>
          <a:p>
            <a:pPr marL="0" indent="0">
              <a:buNone/>
            </a:pPr>
            <a:r>
              <a:rPr lang="en-US" sz="1100" dirty="0">
                <a:effectLst/>
              </a:rPr>
              <a:t>The effectiveness of the LSTM model is assessed by analyzing predicted AQI values in relation to actual observed values through various metrics.</a:t>
            </a:r>
          </a:p>
          <a:p>
            <a:r>
              <a:rPr lang="en-US" sz="1100" b="1" dirty="0">
                <a:effectLst/>
              </a:rPr>
              <a:t>Mean Absolute Error (MAE): </a:t>
            </a:r>
            <a:r>
              <a:rPr lang="en-US" sz="1100" dirty="0">
                <a:effectLst/>
              </a:rPr>
              <a:t>An MAE of 8.16 indicates that, on average, the model's AQI predictions differ from the actual values by roughly 8 AQI units, which is acceptable for environmental forecasting where AQI values frequently vary significantly.</a:t>
            </a:r>
          </a:p>
          <a:p>
            <a:r>
              <a:rPr lang="en-US" sz="1100" b="1" dirty="0">
                <a:effectLst/>
              </a:rPr>
              <a:t>Root Mean Square Error (RMSE)</a:t>
            </a:r>
            <a:r>
              <a:rPr lang="en-US" sz="1100" b="1" dirty="0"/>
              <a:t>: </a:t>
            </a:r>
            <a:r>
              <a:rPr lang="en-US" sz="1100" dirty="0">
                <a:effectLst/>
              </a:rPr>
              <a:t>The RMSE of 11.65 shows that significant prediction errors are quite restricted. Given that RMSE is just slightly greater than MAE, it indicates that significant prediction errors are uncommon, implying consistent model performance.</a:t>
            </a:r>
          </a:p>
          <a:p>
            <a:r>
              <a:rPr lang="en-US" sz="1100" b="1" dirty="0">
                <a:effectLst/>
              </a:rPr>
              <a:t>Mean Absolute Percentage Error (MAPE): </a:t>
            </a:r>
            <a:r>
              <a:rPr lang="en-US" sz="1100" dirty="0">
                <a:effectLst/>
              </a:rPr>
              <a:t>A MAPE of </a:t>
            </a:r>
            <a:r>
              <a:rPr lang="en-US" sz="1100" dirty="0"/>
              <a:t>28</a:t>
            </a:r>
            <a:r>
              <a:rPr lang="en-US" sz="1100" dirty="0">
                <a:effectLst/>
              </a:rPr>
              <a:t>.44% indicates a moderate relative error, frequently observed in AQI forecasting because of abrupt pollution surges driven by weather conditions and emissions. This indicates that the model identifies overarching trends instead of temporary irregularities.</a:t>
            </a:r>
          </a:p>
          <a:p>
            <a:r>
              <a:rPr lang="en-US" sz="1100" b="1" dirty="0">
                <a:effectLst/>
              </a:rPr>
              <a:t>R² Value</a:t>
            </a:r>
            <a:r>
              <a:rPr lang="en-US" sz="1100" b="1" dirty="0"/>
              <a:t>: </a:t>
            </a:r>
            <a:r>
              <a:rPr lang="en-US" sz="1100" dirty="0">
                <a:effectLst/>
              </a:rPr>
              <a:t>An R² value of 0.5</a:t>
            </a:r>
            <a:r>
              <a:rPr lang="en-US" sz="1100" dirty="0"/>
              <a:t>6</a:t>
            </a:r>
            <a:r>
              <a:rPr lang="en-US" sz="1100" dirty="0">
                <a:effectLst/>
              </a:rPr>
              <a:t> suggests that the model accounts for nearly 56% of the variability in AQI values. This illustrates substantial predictive capability for a complicated, noisy environmental time series.</a:t>
            </a:r>
          </a:p>
        </p:txBody>
      </p:sp>
      <p:pic>
        <p:nvPicPr>
          <p:cNvPr id="5" name="Picture 4">
            <a:extLst>
              <a:ext uri="{FF2B5EF4-FFF2-40B4-BE49-F238E27FC236}">
                <a16:creationId xmlns:a16="http://schemas.microsoft.com/office/drawing/2014/main" id="{0C174661-57F0-44FF-4C3A-5366B90D61CF}"/>
              </a:ext>
            </a:extLst>
          </p:cNvPr>
          <p:cNvPicPr>
            <a:picLocks noChangeAspect="1"/>
          </p:cNvPicPr>
          <p:nvPr/>
        </p:nvPicPr>
        <p:blipFill>
          <a:blip r:embed="rId3"/>
          <a:stretch>
            <a:fillRect/>
          </a:stretch>
        </p:blipFill>
        <p:spPr>
          <a:xfrm>
            <a:off x="7522644" y="162886"/>
            <a:ext cx="4380938" cy="1349577"/>
          </a:xfrm>
          <a:prstGeom prst="rect">
            <a:avLst/>
          </a:prstGeom>
        </p:spPr>
      </p:pic>
      <p:pic>
        <p:nvPicPr>
          <p:cNvPr id="9" name="Picture 8">
            <a:extLst>
              <a:ext uri="{FF2B5EF4-FFF2-40B4-BE49-F238E27FC236}">
                <a16:creationId xmlns:a16="http://schemas.microsoft.com/office/drawing/2014/main" id="{D3BCF63A-B528-F47D-9DDC-613C602D03A8}"/>
              </a:ext>
            </a:extLst>
          </p:cNvPr>
          <p:cNvPicPr>
            <a:picLocks noChangeAspect="1"/>
          </p:cNvPicPr>
          <p:nvPr/>
        </p:nvPicPr>
        <p:blipFill>
          <a:blip r:embed="rId4"/>
          <a:stretch>
            <a:fillRect/>
          </a:stretch>
        </p:blipFill>
        <p:spPr>
          <a:xfrm>
            <a:off x="7966502" y="1439781"/>
            <a:ext cx="3521033" cy="5267742"/>
          </a:xfrm>
          <a:prstGeom prst="rect">
            <a:avLst/>
          </a:prstGeom>
        </p:spPr>
      </p:pic>
    </p:spTree>
    <p:extLst>
      <p:ext uri="{BB962C8B-B14F-4D97-AF65-F5344CB8AC3E}">
        <p14:creationId xmlns:p14="http://schemas.microsoft.com/office/powerpoint/2010/main" val="71392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1B1495-957D-4EB0-E937-47BA34026852}"/>
              </a:ext>
            </a:extLst>
          </p:cNvPr>
          <p:cNvSpPr>
            <a:spLocks noGrp="1"/>
          </p:cNvSpPr>
          <p:nvPr>
            <p:ph type="title"/>
          </p:nvPr>
        </p:nvSpPr>
        <p:spPr>
          <a:xfrm>
            <a:off x="645064" y="272530"/>
            <a:ext cx="4282983" cy="1453813"/>
          </a:xfrm>
        </p:spPr>
        <p:txBody>
          <a:bodyPr vert="horz" lIns="91440" tIns="45720" rIns="91440" bIns="45720" rtlCol="0" anchor="b">
            <a:normAutofit fontScale="90000"/>
          </a:bodyPr>
          <a:lstStyle/>
          <a:p>
            <a:r>
              <a:rPr lang="en-US" sz="3600" kern="1200" dirty="0">
                <a:solidFill>
                  <a:schemeClr val="tx1"/>
                </a:solidFill>
                <a:latin typeface="+mj-lt"/>
                <a:ea typeface="+mj-ea"/>
                <a:cs typeface="+mj-cs"/>
              </a:rPr>
              <a:t>Model Accuracy, Limitations and Future Improvements</a:t>
            </a:r>
          </a:p>
        </p:txBody>
      </p:sp>
      <p:sp>
        <p:nvSpPr>
          <p:cNvPr id="32" name="Rectangle 3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846F036-0325-93F7-5826-EA161AFEF114}"/>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algn="just">
              <a:lnSpc>
                <a:spcPct val="90000"/>
              </a:lnSpc>
              <a:spcAft>
                <a:spcPts val="600"/>
              </a:spcAft>
            </a:pPr>
            <a:r>
              <a:rPr lang="en-US" sz="1100" b="1" u="sng" dirty="0"/>
              <a:t>Model accuracy:</a:t>
            </a:r>
          </a:p>
          <a:p>
            <a:pPr marL="285750" indent="-228600" algn="just">
              <a:lnSpc>
                <a:spcPct val="90000"/>
              </a:lnSpc>
              <a:spcAft>
                <a:spcPts val="600"/>
              </a:spcAft>
              <a:buFont typeface="Arial" panose="020B0604020202020204" pitchFamily="34" charset="0"/>
              <a:buChar char="•"/>
            </a:pPr>
            <a:r>
              <a:rPr lang="en-US" sz="1100" dirty="0">
                <a:effectLst/>
              </a:rPr>
              <a:t>The LSTM model demonstrates consistent learning, with training and validation losses reducing simultaneously and staying near each other during training. </a:t>
            </a:r>
          </a:p>
          <a:p>
            <a:pPr marL="285750" indent="-228600" algn="just">
              <a:lnSpc>
                <a:spcPct val="90000"/>
              </a:lnSpc>
              <a:spcAft>
                <a:spcPts val="600"/>
              </a:spcAft>
              <a:buFont typeface="Arial" panose="020B0604020202020204" pitchFamily="34" charset="0"/>
              <a:buChar char="•"/>
            </a:pPr>
            <a:r>
              <a:rPr lang="en-US" sz="1100" dirty="0">
                <a:effectLst/>
              </a:rPr>
              <a:t>This suggests solid generalization and no signs of overfitting. </a:t>
            </a:r>
          </a:p>
          <a:p>
            <a:pPr marL="285750" indent="-228600" algn="just">
              <a:lnSpc>
                <a:spcPct val="90000"/>
              </a:lnSpc>
              <a:spcAft>
                <a:spcPts val="600"/>
              </a:spcAft>
              <a:buFont typeface="Arial" panose="020B0604020202020204" pitchFamily="34" charset="0"/>
              <a:buChar char="•"/>
            </a:pPr>
            <a:r>
              <a:rPr lang="en-US" sz="1100" dirty="0">
                <a:effectLst/>
              </a:rPr>
              <a:t>The obtained MAE (~8.2) and R² (~0.56) indicate that the model identifies significant temporal trends in AQI data, establishing it as a dependable baseline for forecasting</a:t>
            </a:r>
          </a:p>
          <a:p>
            <a:pPr algn="just">
              <a:lnSpc>
                <a:spcPct val="90000"/>
              </a:lnSpc>
              <a:spcAft>
                <a:spcPts val="600"/>
              </a:spcAft>
            </a:pPr>
            <a:r>
              <a:rPr lang="en-US" sz="1100" b="1" u="sng" dirty="0"/>
              <a:t>Limitations and future improvements:</a:t>
            </a:r>
          </a:p>
          <a:p>
            <a:pPr marL="285750" indent="-228600" algn="just">
              <a:lnSpc>
                <a:spcPct val="90000"/>
              </a:lnSpc>
              <a:spcAft>
                <a:spcPts val="600"/>
              </a:spcAft>
              <a:buFont typeface="Arial" panose="020B0604020202020204" pitchFamily="34" charset="0"/>
              <a:buChar char="•"/>
            </a:pPr>
            <a:r>
              <a:rPr lang="en-US" sz="1100" dirty="0">
                <a:effectLst/>
              </a:rPr>
              <a:t>The model indicates mild underfitting, exhibiting an early performance plateau and leaving some AQI variability unaccounted for. </a:t>
            </a:r>
          </a:p>
          <a:p>
            <a:pPr marL="285750" indent="-228600" algn="just">
              <a:lnSpc>
                <a:spcPct val="90000"/>
              </a:lnSpc>
              <a:spcAft>
                <a:spcPts val="600"/>
              </a:spcAft>
              <a:buFont typeface="Arial" panose="020B0604020202020204" pitchFamily="34" charset="0"/>
              <a:buChar char="•"/>
            </a:pPr>
            <a:r>
              <a:rPr lang="en-US" sz="1100" dirty="0">
                <a:effectLst/>
              </a:rPr>
              <a:t>This could be a result of a basic single-layer LSTM and restricted input characteristics. </a:t>
            </a:r>
          </a:p>
          <a:p>
            <a:pPr marL="285750" indent="-228600" algn="just">
              <a:lnSpc>
                <a:spcPct val="90000"/>
              </a:lnSpc>
              <a:spcAft>
                <a:spcPts val="600"/>
              </a:spcAft>
              <a:buFont typeface="Arial" panose="020B0604020202020204" pitchFamily="34" charset="0"/>
              <a:buChar char="•"/>
            </a:pPr>
            <a:r>
              <a:rPr lang="en-US" sz="1100" dirty="0">
                <a:effectLst/>
              </a:rPr>
              <a:t>Performance may be enhanced by incorporating meteorological variables, increasing model complexity, or employing more sophisticated architectures</a:t>
            </a:r>
          </a:p>
          <a:p>
            <a:pPr indent="-228600" algn="just">
              <a:lnSpc>
                <a:spcPct val="90000"/>
              </a:lnSpc>
              <a:spcAft>
                <a:spcPts val="600"/>
              </a:spcAft>
              <a:buFont typeface="Arial" panose="020B0604020202020204" pitchFamily="34" charset="0"/>
              <a:buChar char="•"/>
            </a:pPr>
            <a:endParaRPr lang="en-US" sz="1100" dirty="0">
              <a:effectLst/>
            </a:endParaRPr>
          </a:p>
        </p:txBody>
      </p:sp>
      <p:sp>
        <p:nvSpPr>
          <p:cNvPr id="33" name="Rectangle 3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4A1BF8D-8DC1-2731-CD4A-2B6727F1EF7E}"/>
              </a:ext>
            </a:extLst>
          </p:cNvPr>
          <p:cNvSpPr txBox="1"/>
          <p:nvPr/>
        </p:nvSpPr>
        <p:spPr>
          <a:xfrm>
            <a:off x="7197702" y="5404544"/>
            <a:ext cx="3867405" cy="276999"/>
          </a:xfrm>
          <a:prstGeom prst="rect">
            <a:avLst/>
          </a:prstGeom>
          <a:noFill/>
        </p:spPr>
        <p:txBody>
          <a:bodyPr wrap="none" rtlCol="0">
            <a:spAutoFit/>
          </a:bodyPr>
          <a:lstStyle/>
          <a:p>
            <a:r>
              <a:rPr lang="en-US" sz="1200" dirty="0"/>
              <a:t>Figure: plot of predicted AQI values vs actual AQI values</a:t>
            </a:r>
          </a:p>
        </p:txBody>
      </p:sp>
      <p:pic>
        <p:nvPicPr>
          <p:cNvPr id="10" name="Picture 9">
            <a:extLst>
              <a:ext uri="{FF2B5EF4-FFF2-40B4-BE49-F238E27FC236}">
                <a16:creationId xmlns:a16="http://schemas.microsoft.com/office/drawing/2014/main" id="{6C591F1A-D78B-C978-3907-9BCFE921C0D3}"/>
              </a:ext>
            </a:extLst>
          </p:cNvPr>
          <p:cNvPicPr>
            <a:picLocks noChangeAspect="1"/>
          </p:cNvPicPr>
          <p:nvPr/>
        </p:nvPicPr>
        <p:blipFill>
          <a:blip r:embed="rId2"/>
          <a:stretch>
            <a:fillRect/>
          </a:stretch>
        </p:blipFill>
        <p:spPr>
          <a:xfrm>
            <a:off x="5696793" y="776601"/>
            <a:ext cx="6184973" cy="4374261"/>
          </a:xfrm>
          <a:prstGeom prst="rect">
            <a:avLst/>
          </a:prstGeom>
        </p:spPr>
      </p:pic>
    </p:spTree>
    <p:extLst>
      <p:ext uri="{BB962C8B-B14F-4D97-AF65-F5344CB8AC3E}">
        <p14:creationId xmlns:p14="http://schemas.microsoft.com/office/powerpoint/2010/main" val="2698373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4313CB-A369-7112-38E7-F3D12E0692C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3923CF-173A-D357-E299-D3B68D1DC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487D2A9-D3F7-D47A-EDBC-10ABA8DCB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F21DAA2F-F4A9-67F4-BE68-E0D927FE78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E55174-753E-B52F-D36F-048CEC3A2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CE1EC9F-C5C2-4680-22DB-68B721D54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4F4A1AC-47DC-32E1-7E2E-0F6767F6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98EB66-DD76-7096-3E6A-8AC7459014A2}"/>
              </a:ext>
            </a:extLst>
          </p:cNvPr>
          <p:cNvSpPr>
            <a:spLocks noGrp="1"/>
          </p:cNvSpPr>
          <p:nvPr>
            <p:ph type="title"/>
          </p:nvPr>
        </p:nvSpPr>
        <p:spPr>
          <a:xfrm>
            <a:off x="1043631" y="809898"/>
            <a:ext cx="9942716" cy="1554480"/>
          </a:xfrm>
        </p:spPr>
        <p:txBody>
          <a:bodyPr anchor="ctr">
            <a:normAutofit/>
          </a:bodyPr>
          <a:lstStyle/>
          <a:p>
            <a:r>
              <a:rPr lang="en-US" sz="4800" dirty="0"/>
              <a:t>Research Question 3</a:t>
            </a:r>
          </a:p>
        </p:txBody>
      </p:sp>
      <p:sp>
        <p:nvSpPr>
          <p:cNvPr id="3" name="Content Placeholder 2">
            <a:extLst>
              <a:ext uri="{FF2B5EF4-FFF2-40B4-BE49-F238E27FC236}">
                <a16:creationId xmlns:a16="http://schemas.microsoft.com/office/drawing/2014/main" id="{BD5B3EF8-15C0-0D30-831B-D3BB284E7400}"/>
              </a:ext>
            </a:extLst>
          </p:cNvPr>
          <p:cNvSpPr>
            <a:spLocks noGrp="1"/>
          </p:cNvSpPr>
          <p:nvPr>
            <p:ph idx="1"/>
          </p:nvPr>
        </p:nvSpPr>
        <p:spPr>
          <a:xfrm>
            <a:off x="1045028" y="3017522"/>
            <a:ext cx="9941319" cy="3124658"/>
          </a:xfrm>
        </p:spPr>
        <p:txBody>
          <a:bodyPr anchor="ctr">
            <a:normAutofit/>
          </a:bodyPr>
          <a:lstStyle/>
          <a:p>
            <a:pPr marL="285750" indent="0" algn="just">
              <a:buNone/>
            </a:pPr>
            <a:r>
              <a:rPr lang="en-US" sz="2400" b="1" dirty="0"/>
              <a:t>Can machine learning techniques predict AQI categories (e.g., Good, Moderate, Unhealthy, etc.) using different features? </a:t>
            </a:r>
          </a:p>
        </p:txBody>
      </p:sp>
      <p:cxnSp>
        <p:nvCxnSpPr>
          <p:cNvPr id="17" name="Straight Connector 16">
            <a:extLst>
              <a:ext uri="{FF2B5EF4-FFF2-40B4-BE49-F238E27FC236}">
                <a16:creationId xmlns:a16="http://schemas.microsoft.com/office/drawing/2014/main" id="{C131028B-A8B3-D6FE-B392-AE1D00F386E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666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94B9C-5A5F-8F3D-6C88-4B526694B22E}"/>
              </a:ext>
            </a:extLst>
          </p:cNvPr>
          <p:cNvSpPr>
            <a:spLocks noGrp="1"/>
          </p:cNvSpPr>
          <p:nvPr>
            <p:ph type="title"/>
          </p:nvPr>
        </p:nvSpPr>
        <p:spPr/>
        <p:txBody>
          <a:bodyPr/>
          <a:lstStyle/>
          <a:p>
            <a:r>
              <a:rPr lang="en-US" dirty="0"/>
              <a:t>Algorithms for AQI Category Classification</a:t>
            </a:r>
          </a:p>
        </p:txBody>
      </p:sp>
      <p:graphicFrame>
        <p:nvGraphicFramePr>
          <p:cNvPr id="5" name="Content Placeholder 2">
            <a:extLst>
              <a:ext uri="{FF2B5EF4-FFF2-40B4-BE49-F238E27FC236}">
                <a16:creationId xmlns:a16="http://schemas.microsoft.com/office/drawing/2014/main" id="{F885B986-9597-1313-196D-5E7A4469C978}"/>
              </a:ext>
            </a:extLst>
          </p:cNvPr>
          <p:cNvGraphicFramePr>
            <a:graphicFrameLocks noGrp="1"/>
          </p:cNvGraphicFramePr>
          <p:nvPr>
            <p:ph idx="1"/>
            <p:extLst>
              <p:ext uri="{D42A27DB-BD31-4B8C-83A1-F6EECF244321}">
                <p14:modId xmlns:p14="http://schemas.microsoft.com/office/powerpoint/2010/main" val="3952184132"/>
              </p:ext>
            </p:extLst>
          </p:nvPr>
        </p:nvGraphicFramePr>
        <p:xfrm>
          <a:off x="838200" y="2819399"/>
          <a:ext cx="10515600" cy="3357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60E5F7DB-398C-D665-337D-47F74340617B}"/>
              </a:ext>
            </a:extLst>
          </p:cNvPr>
          <p:cNvSpPr txBox="1"/>
          <p:nvPr/>
        </p:nvSpPr>
        <p:spPr>
          <a:xfrm>
            <a:off x="517001" y="1896069"/>
            <a:ext cx="11157997" cy="923330"/>
          </a:xfrm>
          <a:prstGeom prst="rect">
            <a:avLst/>
          </a:prstGeom>
          <a:noFill/>
        </p:spPr>
        <p:txBody>
          <a:bodyPr wrap="square" rtlCol="0">
            <a:spAutoFit/>
          </a:bodyPr>
          <a:lstStyle/>
          <a:p>
            <a:r>
              <a:rPr lang="en-US" dirty="0"/>
              <a:t>In this project, five classification algorithms have been used to classify the AQI categories- Good, Moderate, Unhealthy for Sensitive Groups, Unhealthy, Very Unhealthy, and Hazardous without using the AQI values.</a:t>
            </a:r>
          </a:p>
          <a:p>
            <a:endParaRPr lang="en-US" dirty="0"/>
          </a:p>
        </p:txBody>
      </p:sp>
    </p:spTree>
    <p:extLst>
      <p:ext uri="{BB962C8B-B14F-4D97-AF65-F5344CB8AC3E}">
        <p14:creationId xmlns:p14="http://schemas.microsoft.com/office/powerpoint/2010/main" val="2900633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8" name="Rectangle 87">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6EFB5-E6AD-0670-508C-28C1AEF76AAB}"/>
              </a:ext>
            </a:extLst>
          </p:cNvPr>
          <p:cNvSpPr>
            <a:spLocks noGrp="1"/>
          </p:cNvSpPr>
          <p:nvPr>
            <p:ph type="title"/>
          </p:nvPr>
        </p:nvSpPr>
        <p:spPr>
          <a:xfrm>
            <a:off x="645064" y="525982"/>
            <a:ext cx="4282983" cy="1200361"/>
          </a:xfrm>
        </p:spPr>
        <p:txBody>
          <a:bodyPr anchor="b">
            <a:normAutofit/>
          </a:bodyPr>
          <a:lstStyle/>
          <a:p>
            <a:r>
              <a:rPr lang="en-US" sz="3600" dirty="0"/>
              <a:t>Relevant Features</a:t>
            </a:r>
          </a:p>
        </p:txBody>
      </p:sp>
      <p:sp>
        <p:nvSpPr>
          <p:cNvPr id="89" name="Rectangle 88">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ontent Placeholder 2">
            <a:extLst>
              <a:ext uri="{FF2B5EF4-FFF2-40B4-BE49-F238E27FC236}">
                <a16:creationId xmlns:a16="http://schemas.microsoft.com/office/drawing/2014/main" id="{8746DF6E-EBD4-09EA-F28A-E4B4C894E5CF}"/>
              </a:ext>
            </a:extLst>
          </p:cNvPr>
          <p:cNvSpPr>
            <a:spLocks noGrp="1"/>
          </p:cNvSpPr>
          <p:nvPr>
            <p:ph idx="1"/>
          </p:nvPr>
        </p:nvSpPr>
        <p:spPr>
          <a:xfrm>
            <a:off x="358509" y="1944913"/>
            <a:ext cx="5338282" cy="3815177"/>
          </a:xfrm>
        </p:spPr>
        <p:txBody>
          <a:bodyPr anchor="ctr">
            <a:normAutofit/>
          </a:bodyPr>
          <a:lstStyle/>
          <a:p>
            <a:r>
              <a:rPr lang="en-US" sz="1200" b="1" dirty="0" err="1"/>
              <a:t>State_Name</a:t>
            </a:r>
            <a:r>
              <a:rPr lang="en-US" sz="1200" b="1" dirty="0"/>
              <a:t>: </a:t>
            </a:r>
            <a:r>
              <a:rPr lang="en-US" sz="1200" dirty="0"/>
              <a:t>not used; this data is for New York only</a:t>
            </a:r>
          </a:p>
          <a:p>
            <a:r>
              <a:rPr lang="en-US" sz="1200" b="1" dirty="0" err="1"/>
              <a:t>County_Name</a:t>
            </a:r>
            <a:r>
              <a:rPr lang="en-US" sz="1200" b="1" dirty="0"/>
              <a:t>: </a:t>
            </a:r>
            <a:r>
              <a:rPr lang="en-US" sz="1200" dirty="0"/>
              <a:t>not used; identical to </a:t>
            </a:r>
            <a:r>
              <a:rPr lang="en-US" sz="1200" dirty="0" err="1"/>
              <a:t>County_Code</a:t>
            </a:r>
            <a:endParaRPr lang="en-US" sz="1200" dirty="0"/>
          </a:p>
          <a:p>
            <a:r>
              <a:rPr lang="en-US" sz="1200" b="1" dirty="0" err="1"/>
              <a:t>State_Code</a:t>
            </a:r>
            <a:r>
              <a:rPr lang="en-US" sz="1200" b="1" dirty="0"/>
              <a:t>: </a:t>
            </a:r>
            <a:r>
              <a:rPr lang="en-US" sz="1200" dirty="0"/>
              <a:t>not used ; this data is for New York only </a:t>
            </a:r>
          </a:p>
          <a:p>
            <a:r>
              <a:rPr lang="en-US" sz="1200" b="1" dirty="0" err="1"/>
              <a:t>County_Code</a:t>
            </a:r>
            <a:r>
              <a:rPr lang="en-US" sz="1200" b="1" dirty="0"/>
              <a:t>: </a:t>
            </a:r>
            <a:r>
              <a:rPr lang="en-US" sz="1200" dirty="0"/>
              <a:t>used; as categorical variable</a:t>
            </a:r>
          </a:p>
          <a:p>
            <a:r>
              <a:rPr lang="en-US" sz="1200" b="1" dirty="0" err="1"/>
              <a:t>Obs_Date</a:t>
            </a:r>
            <a:r>
              <a:rPr lang="en-US" sz="1200" b="1" dirty="0"/>
              <a:t>: </a:t>
            </a:r>
            <a:r>
              <a:rPr lang="en-US" sz="1200" dirty="0"/>
              <a:t>not used; only year and month is extracted and used</a:t>
            </a:r>
          </a:p>
          <a:p>
            <a:r>
              <a:rPr lang="en-US" sz="1200" b="1" dirty="0"/>
              <a:t>AQI:</a:t>
            </a:r>
            <a:r>
              <a:rPr lang="en-US" sz="1200" dirty="0"/>
              <a:t> not used; not relevant to this research</a:t>
            </a:r>
          </a:p>
          <a:p>
            <a:r>
              <a:rPr lang="en-US" sz="1200" b="1" dirty="0"/>
              <a:t>Category:</a:t>
            </a:r>
            <a:r>
              <a:rPr lang="en-US" sz="1200" dirty="0"/>
              <a:t> not used; target variable</a:t>
            </a:r>
          </a:p>
          <a:p>
            <a:r>
              <a:rPr lang="en-US" sz="1200" b="1" dirty="0" err="1"/>
              <a:t>Defining_Parameter</a:t>
            </a:r>
            <a:r>
              <a:rPr lang="en-US" sz="1200" b="1" dirty="0"/>
              <a:t> : </a:t>
            </a:r>
            <a:r>
              <a:rPr lang="en-US" sz="1200" dirty="0"/>
              <a:t>Used; as categorical variable</a:t>
            </a:r>
          </a:p>
          <a:p>
            <a:r>
              <a:rPr lang="en-US" sz="1200" b="1" dirty="0" err="1"/>
              <a:t>Defining_Site</a:t>
            </a:r>
            <a:r>
              <a:rPr lang="en-US" sz="1200" b="1" dirty="0"/>
              <a:t>: </a:t>
            </a:r>
            <a:r>
              <a:rPr lang="en-US" sz="1200" dirty="0"/>
              <a:t>not used; it’s the site ID that has very low variance, closely tied to </a:t>
            </a:r>
            <a:r>
              <a:rPr lang="en-US" sz="1200" dirty="0" err="1"/>
              <a:t>County_Code</a:t>
            </a:r>
            <a:r>
              <a:rPr lang="en-US" sz="1200" dirty="0"/>
              <a:t> and will not add much information. Also, may cause overfitting.</a:t>
            </a:r>
          </a:p>
          <a:p>
            <a:r>
              <a:rPr lang="en-US" sz="1200" b="1" dirty="0" err="1"/>
              <a:t>No_of_Sites_Reporting</a:t>
            </a:r>
            <a:r>
              <a:rPr lang="en-US" sz="1200" b="1" dirty="0"/>
              <a:t>:</a:t>
            </a:r>
            <a:r>
              <a:rPr lang="en-US" sz="1200" dirty="0"/>
              <a:t> used; as numerical variable</a:t>
            </a:r>
          </a:p>
          <a:p>
            <a:r>
              <a:rPr lang="en-US" sz="1200" b="1" dirty="0"/>
              <a:t>Year:</a:t>
            </a:r>
            <a:r>
              <a:rPr lang="en-US" sz="1200" dirty="0"/>
              <a:t> used; as categorical variable (avoid false numerical assumption)</a:t>
            </a:r>
          </a:p>
          <a:p>
            <a:r>
              <a:rPr lang="en-US" sz="1200" b="1" dirty="0"/>
              <a:t>Month:</a:t>
            </a:r>
            <a:r>
              <a:rPr lang="en-US" sz="1200" dirty="0"/>
              <a:t> used; as categorical variable</a:t>
            </a:r>
          </a:p>
        </p:txBody>
      </p:sp>
      <p:sp>
        <p:nvSpPr>
          <p:cNvPr id="91" name="Rectangle 9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D1089E-C0DD-AFC9-1481-A21F1443D2A8}"/>
              </a:ext>
            </a:extLst>
          </p:cNvPr>
          <p:cNvPicPr>
            <a:picLocks noChangeAspect="1"/>
          </p:cNvPicPr>
          <p:nvPr/>
        </p:nvPicPr>
        <p:blipFill>
          <a:blip r:embed="rId2"/>
          <a:stretch>
            <a:fillRect/>
          </a:stretch>
        </p:blipFill>
        <p:spPr>
          <a:xfrm>
            <a:off x="5712889" y="2609850"/>
            <a:ext cx="5993335" cy="1363484"/>
          </a:xfrm>
          <a:prstGeom prst="rect">
            <a:avLst/>
          </a:prstGeom>
        </p:spPr>
      </p:pic>
    </p:spTree>
    <p:extLst>
      <p:ext uri="{BB962C8B-B14F-4D97-AF65-F5344CB8AC3E}">
        <p14:creationId xmlns:p14="http://schemas.microsoft.com/office/powerpoint/2010/main" val="1165364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864109-D8A4-61AF-CBBC-2CF151CE00FC}"/>
              </a:ext>
            </a:extLst>
          </p:cNvPr>
          <p:cNvSpPr>
            <a:spLocks noGrp="1"/>
          </p:cNvSpPr>
          <p:nvPr>
            <p:ph type="title"/>
          </p:nvPr>
        </p:nvSpPr>
        <p:spPr>
          <a:xfrm>
            <a:off x="630936" y="309386"/>
            <a:ext cx="3429000" cy="2049206"/>
          </a:xfrm>
        </p:spPr>
        <p:txBody>
          <a:bodyPr anchor="b">
            <a:noAutofit/>
          </a:bodyPr>
          <a:lstStyle/>
          <a:p>
            <a:r>
              <a:rPr lang="en-US" sz="3600" dirty="0"/>
              <a:t>Feature Engineering AND Data Pre-processing</a:t>
            </a:r>
          </a:p>
        </p:txBody>
      </p:sp>
      <p:sp>
        <p:nvSpPr>
          <p:cNvPr id="27"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E913B4-11AD-D979-D58F-BE9EA393FB64}"/>
              </a:ext>
            </a:extLst>
          </p:cNvPr>
          <p:cNvSpPr>
            <a:spLocks noGrp="1"/>
          </p:cNvSpPr>
          <p:nvPr>
            <p:ph idx="1"/>
          </p:nvPr>
        </p:nvSpPr>
        <p:spPr>
          <a:xfrm>
            <a:off x="604366" y="2843784"/>
            <a:ext cx="3416658" cy="3374136"/>
          </a:xfrm>
        </p:spPr>
        <p:txBody>
          <a:bodyPr anchor="t">
            <a:normAutofit fontScale="62500" lnSpcReduction="20000"/>
          </a:bodyPr>
          <a:lstStyle/>
          <a:p>
            <a:r>
              <a:rPr lang="en-US" sz="2200" b="1" dirty="0"/>
              <a:t>Feature extraction: </a:t>
            </a:r>
            <a:r>
              <a:rPr lang="en-US" sz="2200" dirty="0"/>
              <a:t>Month, and Year was extracted from the </a:t>
            </a:r>
            <a:r>
              <a:rPr lang="en-US" sz="2200" dirty="0" err="1"/>
              <a:t>Obs_Date</a:t>
            </a:r>
            <a:r>
              <a:rPr lang="en-US" sz="2200" dirty="0"/>
              <a:t> and converted to categorical variable. Also, Year was grouped in ten-year bins.</a:t>
            </a:r>
          </a:p>
          <a:p>
            <a:r>
              <a:rPr lang="en-US" sz="2200" b="1" dirty="0"/>
              <a:t>Feature selection: </a:t>
            </a:r>
            <a:r>
              <a:rPr lang="en-US" sz="2200" dirty="0" err="1"/>
              <a:t>County_Code</a:t>
            </a:r>
            <a:r>
              <a:rPr lang="en-US" sz="2200" dirty="0"/>
              <a:t> and </a:t>
            </a:r>
            <a:r>
              <a:rPr lang="en-US" sz="2200" dirty="0" err="1"/>
              <a:t>Defining_Parameter</a:t>
            </a:r>
            <a:r>
              <a:rPr lang="en-US" sz="2200" dirty="0"/>
              <a:t> feature were converted to categorical variable and added with Year, Month, </a:t>
            </a:r>
            <a:r>
              <a:rPr lang="en-US" sz="2200" dirty="0" err="1"/>
              <a:t>No_of_Sites_Reporting</a:t>
            </a:r>
            <a:r>
              <a:rPr lang="en-US" sz="2200" dirty="0"/>
              <a:t> to feature list. </a:t>
            </a:r>
          </a:p>
          <a:p>
            <a:r>
              <a:rPr lang="en-US" sz="2200" b="1" dirty="0"/>
              <a:t>Data pre-processing: </a:t>
            </a:r>
            <a:r>
              <a:rPr lang="en-US" sz="2200" dirty="0"/>
              <a:t>one-hot encoding input features and the target column Category is converted to numeric form for machine learning algorithms. A sorting is done to preserve temporal order.</a:t>
            </a:r>
          </a:p>
          <a:p>
            <a:r>
              <a:rPr lang="en-US" sz="2200" b="1" dirty="0"/>
              <a:t>Scaling:</a:t>
            </a:r>
            <a:r>
              <a:rPr lang="en-US" sz="2200" dirty="0"/>
              <a:t> This step standardizes features to zero mean and unit variance so that scale-sensitive models can learn effectively.</a:t>
            </a:r>
          </a:p>
          <a:p>
            <a:endParaRPr lang="en-US" sz="2200" dirty="0"/>
          </a:p>
        </p:txBody>
      </p:sp>
      <p:pic>
        <p:nvPicPr>
          <p:cNvPr id="19" name="Picture 18">
            <a:extLst>
              <a:ext uri="{FF2B5EF4-FFF2-40B4-BE49-F238E27FC236}">
                <a16:creationId xmlns:a16="http://schemas.microsoft.com/office/drawing/2014/main" id="{4F508FD2-4B91-5230-9CC0-7B71E4FACEAA}"/>
              </a:ext>
            </a:extLst>
          </p:cNvPr>
          <p:cNvPicPr>
            <a:picLocks noChangeAspect="1"/>
          </p:cNvPicPr>
          <p:nvPr/>
        </p:nvPicPr>
        <p:blipFill>
          <a:blip r:embed="rId2"/>
          <a:stretch>
            <a:fillRect/>
          </a:stretch>
        </p:blipFill>
        <p:spPr>
          <a:xfrm>
            <a:off x="4021024" y="309386"/>
            <a:ext cx="8086246" cy="6159941"/>
          </a:xfrm>
          <a:prstGeom prst="rect">
            <a:avLst/>
          </a:prstGeom>
        </p:spPr>
      </p:pic>
    </p:spTree>
    <p:extLst>
      <p:ext uri="{BB962C8B-B14F-4D97-AF65-F5344CB8AC3E}">
        <p14:creationId xmlns:p14="http://schemas.microsoft.com/office/powerpoint/2010/main" val="1032151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5E1F66-DD63-4509-F894-8F8E9AA9EC7D}"/>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7FBEEDAA-EB14-D6A3-F3BB-BB9AB9619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54B80B-A38E-C320-D868-B2FE10AAFE24}"/>
              </a:ext>
            </a:extLst>
          </p:cNvPr>
          <p:cNvSpPr>
            <a:spLocks noGrp="1"/>
          </p:cNvSpPr>
          <p:nvPr>
            <p:ph type="title"/>
          </p:nvPr>
        </p:nvSpPr>
        <p:spPr>
          <a:xfrm>
            <a:off x="429768" y="411480"/>
            <a:ext cx="11201400" cy="1106424"/>
          </a:xfrm>
        </p:spPr>
        <p:txBody>
          <a:bodyPr>
            <a:normAutofit/>
          </a:bodyPr>
          <a:lstStyle/>
          <a:p>
            <a:r>
              <a:rPr lang="en-US" sz="3600" dirty="0"/>
              <a:t>Time Series Split and Hyperparameter Grids</a:t>
            </a:r>
          </a:p>
        </p:txBody>
      </p:sp>
      <p:sp>
        <p:nvSpPr>
          <p:cNvPr id="31" name="Rectangle 30">
            <a:extLst>
              <a:ext uri="{FF2B5EF4-FFF2-40B4-BE49-F238E27FC236}">
                <a16:creationId xmlns:a16="http://schemas.microsoft.com/office/drawing/2014/main" id="{60CBA393-6053-56D1-9897-A3C788AD6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2" name="Rectangle 31">
            <a:extLst>
              <a:ext uri="{FF2B5EF4-FFF2-40B4-BE49-F238E27FC236}">
                <a16:creationId xmlns:a16="http://schemas.microsoft.com/office/drawing/2014/main" id="{745CEC2F-E4D3-95D7-F494-7174C6E90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0E0CE4F-146B-A368-F8A3-19F551D623B4}"/>
              </a:ext>
            </a:extLst>
          </p:cNvPr>
          <p:cNvSpPr>
            <a:spLocks noGrp="1"/>
          </p:cNvSpPr>
          <p:nvPr>
            <p:ph idx="1"/>
          </p:nvPr>
        </p:nvSpPr>
        <p:spPr>
          <a:xfrm>
            <a:off x="7938752" y="2020824"/>
            <a:ext cx="3455097" cy="3959352"/>
          </a:xfrm>
        </p:spPr>
        <p:txBody>
          <a:bodyPr anchor="ctr">
            <a:normAutofit/>
          </a:bodyPr>
          <a:lstStyle/>
          <a:p>
            <a:r>
              <a:rPr lang="en-US" sz="1400" b="1" dirty="0"/>
              <a:t>Time series split: </a:t>
            </a:r>
            <a:r>
              <a:rPr lang="en-US" sz="1400" dirty="0"/>
              <a:t>Utilizes forward-chaining cross-validation to maintain temporal sequence and avoid data leakage during the assessment of time-dependent models</a:t>
            </a:r>
          </a:p>
          <a:p>
            <a:r>
              <a:rPr lang="en-US" sz="1400" b="1" dirty="0"/>
              <a:t>Hyperparameter Grids:</a:t>
            </a:r>
            <a:r>
              <a:rPr lang="en-US" sz="1400" dirty="0"/>
              <a:t> Establishes organized search spaces for every model to methodically adjust crucial parameters and enhance performance in cross-validation</a:t>
            </a:r>
          </a:p>
        </p:txBody>
      </p:sp>
      <p:pic>
        <p:nvPicPr>
          <p:cNvPr id="6" name="Picture 5">
            <a:extLst>
              <a:ext uri="{FF2B5EF4-FFF2-40B4-BE49-F238E27FC236}">
                <a16:creationId xmlns:a16="http://schemas.microsoft.com/office/drawing/2014/main" id="{2FA220B0-A503-E5EB-C9DA-7392DF6DFD10}"/>
              </a:ext>
            </a:extLst>
          </p:cNvPr>
          <p:cNvPicPr>
            <a:picLocks noChangeAspect="1"/>
          </p:cNvPicPr>
          <p:nvPr/>
        </p:nvPicPr>
        <p:blipFill>
          <a:blip r:embed="rId2"/>
          <a:stretch>
            <a:fillRect/>
          </a:stretch>
        </p:blipFill>
        <p:spPr>
          <a:xfrm>
            <a:off x="90448" y="2442347"/>
            <a:ext cx="7383017" cy="3034116"/>
          </a:xfrm>
          <a:prstGeom prst="rect">
            <a:avLst/>
          </a:prstGeom>
        </p:spPr>
      </p:pic>
    </p:spTree>
    <p:extLst>
      <p:ext uri="{BB962C8B-B14F-4D97-AF65-F5344CB8AC3E}">
        <p14:creationId xmlns:p14="http://schemas.microsoft.com/office/powerpoint/2010/main" val="3577086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E912F7-5261-88CB-9120-8B37FB8DF3C0}"/>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840DE721-2670-A20D-E54C-CA7BBFC62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5CCD75-9653-5902-B443-6A282F3B48E6}"/>
              </a:ext>
            </a:extLst>
          </p:cNvPr>
          <p:cNvSpPr>
            <a:spLocks noGrp="1"/>
          </p:cNvSpPr>
          <p:nvPr>
            <p:ph type="title"/>
          </p:nvPr>
        </p:nvSpPr>
        <p:spPr>
          <a:xfrm>
            <a:off x="429768" y="411480"/>
            <a:ext cx="11201400" cy="1106424"/>
          </a:xfrm>
        </p:spPr>
        <p:txBody>
          <a:bodyPr>
            <a:normAutofit/>
          </a:bodyPr>
          <a:lstStyle/>
          <a:p>
            <a:r>
              <a:rPr lang="en-US" sz="3600" dirty="0"/>
              <a:t>Model Building and Parameter Tuning</a:t>
            </a:r>
          </a:p>
        </p:txBody>
      </p:sp>
      <p:sp>
        <p:nvSpPr>
          <p:cNvPr id="31" name="Rectangle 30">
            <a:extLst>
              <a:ext uri="{FF2B5EF4-FFF2-40B4-BE49-F238E27FC236}">
                <a16:creationId xmlns:a16="http://schemas.microsoft.com/office/drawing/2014/main" id="{5D7BFF95-4490-E707-746A-F8FA2E6CD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2" name="Rectangle 31">
            <a:extLst>
              <a:ext uri="{FF2B5EF4-FFF2-40B4-BE49-F238E27FC236}">
                <a16:creationId xmlns:a16="http://schemas.microsoft.com/office/drawing/2014/main" id="{F2AF992E-7C05-A0A2-E2CC-198E8D264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83FFEC1-2DE6-3D94-77AA-33216D6F5189}"/>
              </a:ext>
            </a:extLst>
          </p:cNvPr>
          <p:cNvSpPr>
            <a:spLocks noGrp="1"/>
          </p:cNvSpPr>
          <p:nvPr>
            <p:ph idx="1"/>
          </p:nvPr>
        </p:nvSpPr>
        <p:spPr>
          <a:xfrm>
            <a:off x="7938752" y="2020824"/>
            <a:ext cx="3455097" cy="3959352"/>
          </a:xfrm>
        </p:spPr>
        <p:txBody>
          <a:bodyPr anchor="ctr">
            <a:normAutofit/>
          </a:bodyPr>
          <a:lstStyle/>
          <a:p>
            <a:r>
              <a:rPr lang="en-US" sz="1400" b="1" dirty="0"/>
              <a:t>Model Building &amp; Parameter Tuning: </a:t>
            </a:r>
            <a:r>
              <a:rPr lang="en-US" sz="1400" dirty="0"/>
              <a:t>This part trains several classification models and conducts hyperparameter tuning through </a:t>
            </a:r>
            <a:r>
              <a:rPr lang="en-US" sz="1400" dirty="0" err="1"/>
              <a:t>GridSearchCV</a:t>
            </a:r>
            <a:r>
              <a:rPr lang="en-US" sz="1400" dirty="0"/>
              <a:t>, utilizing time-series cross-validation. For every algorithm, it looks for the optimal parameter combination focused on weighted F1-score, implements scaling only when necessary, and preserves the highest-performing model for the final assessment</a:t>
            </a:r>
          </a:p>
        </p:txBody>
      </p:sp>
      <p:pic>
        <p:nvPicPr>
          <p:cNvPr id="5" name="Picture 4">
            <a:extLst>
              <a:ext uri="{FF2B5EF4-FFF2-40B4-BE49-F238E27FC236}">
                <a16:creationId xmlns:a16="http://schemas.microsoft.com/office/drawing/2014/main" id="{FDA927FD-8380-2452-D9E0-144599EF0F14}"/>
              </a:ext>
            </a:extLst>
          </p:cNvPr>
          <p:cNvPicPr>
            <a:picLocks noChangeAspect="1"/>
          </p:cNvPicPr>
          <p:nvPr/>
        </p:nvPicPr>
        <p:blipFill>
          <a:blip r:embed="rId2"/>
          <a:stretch>
            <a:fillRect/>
          </a:stretch>
        </p:blipFill>
        <p:spPr>
          <a:xfrm>
            <a:off x="64008" y="2367129"/>
            <a:ext cx="7410450" cy="3448050"/>
          </a:xfrm>
          <a:prstGeom prst="rect">
            <a:avLst/>
          </a:prstGeom>
        </p:spPr>
      </p:pic>
    </p:spTree>
    <p:extLst>
      <p:ext uri="{BB962C8B-B14F-4D97-AF65-F5344CB8AC3E}">
        <p14:creationId xmlns:p14="http://schemas.microsoft.com/office/powerpoint/2010/main" val="1998402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FC5326-53B2-6F6F-A694-C329BC497AD3}"/>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b="1"/>
              <a:t>Training (Cross-Validation) Performance</a:t>
            </a:r>
            <a:endParaRPr lang="en-US" sz="4600"/>
          </a:p>
        </p:txBody>
      </p:sp>
      <p:sp>
        <p:nvSpPr>
          <p:cNvPr id="3" name="Content Placeholder 2">
            <a:extLst>
              <a:ext uri="{FF2B5EF4-FFF2-40B4-BE49-F238E27FC236}">
                <a16:creationId xmlns:a16="http://schemas.microsoft.com/office/drawing/2014/main" id="{01EEAB86-34B1-3701-3BC3-103FBC232623}"/>
              </a:ext>
            </a:extLst>
          </p:cNvPr>
          <p:cNvSpPr>
            <a:spLocks noGrp="1"/>
          </p:cNvSpPr>
          <p:nvPr>
            <p:ph idx="1"/>
          </p:nvPr>
        </p:nvSpPr>
        <p:spPr>
          <a:xfrm>
            <a:off x="638881" y="1922561"/>
            <a:ext cx="10909643" cy="552659"/>
          </a:xfrm>
        </p:spPr>
        <p:txBody>
          <a:bodyPr vert="horz" lIns="91440" tIns="45720" rIns="91440" bIns="45720" rtlCol="0" anchor="ctr">
            <a:normAutofit/>
          </a:bodyPr>
          <a:lstStyle/>
          <a:p>
            <a:pPr marL="0" indent="0" algn="ctr">
              <a:buNone/>
            </a:pPr>
            <a:r>
              <a:rPr lang="en-US" sz="2200" dirty="0"/>
              <a:t>Average weighted F1-score across the </a:t>
            </a:r>
            <a:r>
              <a:rPr lang="en-US" sz="2200" dirty="0" err="1"/>
              <a:t>TimeSeriesSplit</a:t>
            </a:r>
            <a:r>
              <a:rPr lang="en-US" sz="2200" dirty="0"/>
              <a:t> folds for the best parameters.</a:t>
            </a:r>
          </a:p>
        </p:txBody>
      </p:sp>
      <p:sp>
        <p:nvSpPr>
          <p:cNvPr id="1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B1F8D54-BBA8-2905-EC47-51506C4CB5E8}"/>
              </a:ext>
            </a:extLst>
          </p:cNvPr>
          <p:cNvPicPr>
            <a:picLocks noChangeAspect="1"/>
          </p:cNvPicPr>
          <p:nvPr/>
        </p:nvPicPr>
        <p:blipFill>
          <a:blip r:embed="rId2"/>
          <a:stretch>
            <a:fillRect/>
          </a:stretch>
        </p:blipFill>
        <p:spPr>
          <a:xfrm>
            <a:off x="1120140" y="2593371"/>
            <a:ext cx="6060772" cy="1721542"/>
          </a:xfrm>
          <a:prstGeom prst="rect">
            <a:avLst/>
          </a:prstGeom>
        </p:spPr>
      </p:pic>
      <p:pic>
        <p:nvPicPr>
          <p:cNvPr id="12" name="Picture 11">
            <a:extLst>
              <a:ext uri="{FF2B5EF4-FFF2-40B4-BE49-F238E27FC236}">
                <a16:creationId xmlns:a16="http://schemas.microsoft.com/office/drawing/2014/main" id="{683D0820-FC49-09F0-00C8-82F84AAE34F2}"/>
              </a:ext>
            </a:extLst>
          </p:cNvPr>
          <p:cNvPicPr>
            <a:picLocks noChangeAspect="1"/>
          </p:cNvPicPr>
          <p:nvPr/>
        </p:nvPicPr>
        <p:blipFill>
          <a:blip r:embed="rId3"/>
          <a:stretch>
            <a:fillRect/>
          </a:stretch>
        </p:blipFill>
        <p:spPr>
          <a:xfrm>
            <a:off x="1148713" y="4298867"/>
            <a:ext cx="9129453" cy="1940008"/>
          </a:xfrm>
          <a:prstGeom prst="rect">
            <a:avLst/>
          </a:prstGeom>
        </p:spPr>
      </p:pic>
    </p:spTree>
    <p:extLst>
      <p:ext uri="{BB962C8B-B14F-4D97-AF65-F5344CB8AC3E}">
        <p14:creationId xmlns:p14="http://schemas.microsoft.com/office/powerpoint/2010/main" val="76605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F1D69E-E189-5BAD-E9B7-A6C05F893A1A}"/>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0" name="Rectangle 39">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BE2C52-3728-6F0C-2E2E-779D990187E1}"/>
              </a:ext>
            </a:extLst>
          </p:cNvPr>
          <p:cNvSpPr>
            <a:spLocks noGrp="1"/>
          </p:cNvSpPr>
          <p:nvPr>
            <p:ph type="title"/>
          </p:nvPr>
        </p:nvSpPr>
        <p:spPr>
          <a:xfrm>
            <a:off x="1057025" y="922644"/>
            <a:ext cx="5040285" cy="1169585"/>
          </a:xfrm>
        </p:spPr>
        <p:txBody>
          <a:bodyPr anchor="b">
            <a:normAutofit/>
          </a:bodyPr>
          <a:lstStyle/>
          <a:p>
            <a:r>
              <a:rPr lang="en-US" sz="3700" dirty="0"/>
              <a:t>Test (Forecasting) Performance</a:t>
            </a:r>
          </a:p>
        </p:txBody>
      </p:sp>
      <p:sp>
        <p:nvSpPr>
          <p:cNvPr id="45" name="Rectangle 44">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CC9A85-A0E9-E3C1-C4E5-097449C4B52B}"/>
              </a:ext>
            </a:extLst>
          </p:cNvPr>
          <p:cNvSpPr>
            <a:spLocks noGrp="1"/>
          </p:cNvSpPr>
          <p:nvPr>
            <p:ph idx="1"/>
          </p:nvPr>
        </p:nvSpPr>
        <p:spPr>
          <a:xfrm>
            <a:off x="1055716" y="2508105"/>
            <a:ext cx="3820412" cy="3632493"/>
          </a:xfrm>
        </p:spPr>
        <p:txBody>
          <a:bodyPr anchor="ctr">
            <a:normAutofit/>
          </a:bodyPr>
          <a:lstStyle/>
          <a:p>
            <a:r>
              <a:rPr lang="en-US" sz="2000" b="1" dirty="0"/>
              <a:t>Model Evaluation: </a:t>
            </a:r>
            <a:r>
              <a:rPr lang="en-US" sz="2000" dirty="0">
                <a:effectLst/>
              </a:rPr>
              <a:t>This phase retrains every optimized model within the final time-oriented training period and assesses it during the latest hold-out segment, guaranteeing that the performance mirrors actual future prediction scenarios while maintaining temporal sequence</a:t>
            </a:r>
            <a:endParaRPr lang="en-US" sz="2000" dirty="0"/>
          </a:p>
        </p:txBody>
      </p:sp>
      <p:pic>
        <p:nvPicPr>
          <p:cNvPr id="14" name="Picture 13">
            <a:extLst>
              <a:ext uri="{FF2B5EF4-FFF2-40B4-BE49-F238E27FC236}">
                <a16:creationId xmlns:a16="http://schemas.microsoft.com/office/drawing/2014/main" id="{DF656F2B-CF64-E697-A64D-6C3C58B109DE}"/>
              </a:ext>
            </a:extLst>
          </p:cNvPr>
          <p:cNvPicPr>
            <a:picLocks noChangeAspect="1"/>
          </p:cNvPicPr>
          <p:nvPr/>
        </p:nvPicPr>
        <p:blipFill>
          <a:blip r:embed="rId2"/>
          <a:stretch>
            <a:fillRect/>
          </a:stretch>
        </p:blipFill>
        <p:spPr>
          <a:xfrm>
            <a:off x="6246952" y="1118501"/>
            <a:ext cx="5229849" cy="2681974"/>
          </a:xfrm>
          <a:prstGeom prst="rect">
            <a:avLst/>
          </a:prstGeom>
        </p:spPr>
      </p:pic>
      <p:pic>
        <p:nvPicPr>
          <p:cNvPr id="16" name="Picture 15">
            <a:extLst>
              <a:ext uri="{FF2B5EF4-FFF2-40B4-BE49-F238E27FC236}">
                <a16:creationId xmlns:a16="http://schemas.microsoft.com/office/drawing/2014/main" id="{638BE845-5E02-293B-3075-B5C7F996D0A8}"/>
              </a:ext>
            </a:extLst>
          </p:cNvPr>
          <p:cNvPicPr>
            <a:picLocks noChangeAspect="1"/>
          </p:cNvPicPr>
          <p:nvPr/>
        </p:nvPicPr>
        <p:blipFill>
          <a:blip r:embed="rId3"/>
          <a:stretch>
            <a:fillRect/>
          </a:stretch>
        </p:blipFill>
        <p:spPr>
          <a:xfrm>
            <a:off x="6104077" y="4061183"/>
            <a:ext cx="5516506" cy="762921"/>
          </a:xfrm>
          <a:prstGeom prst="rect">
            <a:avLst/>
          </a:prstGeom>
        </p:spPr>
      </p:pic>
      <p:pic>
        <p:nvPicPr>
          <p:cNvPr id="18" name="Picture 17">
            <a:extLst>
              <a:ext uri="{FF2B5EF4-FFF2-40B4-BE49-F238E27FC236}">
                <a16:creationId xmlns:a16="http://schemas.microsoft.com/office/drawing/2014/main" id="{6CC4D18B-8C5B-854A-6F5D-FD93D35DE7DB}"/>
              </a:ext>
            </a:extLst>
          </p:cNvPr>
          <p:cNvPicPr>
            <a:picLocks noChangeAspect="1"/>
          </p:cNvPicPr>
          <p:nvPr/>
        </p:nvPicPr>
        <p:blipFill>
          <a:blip r:embed="rId4"/>
          <a:stretch>
            <a:fillRect/>
          </a:stretch>
        </p:blipFill>
        <p:spPr>
          <a:xfrm>
            <a:off x="6170752" y="4779092"/>
            <a:ext cx="5149715" cy="821607"/>
          </a:xfrm>
          <a:prstGeom prst="rect">
            <a:avLst/>
          </a:prstGeom>
        </p:spPr>
      </p:pic>
    </p:spTree>
    <p:extLst>
      <p:ext uri="{BB962C8B-B14F-4D97-AF65-F5344CB8AC3E}">
        <p14:creationId xmlns:p14="http://schemas.microsoft.com/office/powerpoint/2010/main" val="1240396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9" name="Rectangle 16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584C1-C427-2F01-61A4-5DB0CC51FDAD}"/>
              </a:ext>
            </a:extLst>
          </p:cNvPr>
          <p:cNvSpPr>
            <a:spLocks noGrp="1"/>
          </p:cNvSpPr>
          <p:nvPr>
            <p:ph type="title"/>
          </p:nvPr>
        </p:nvSpPr>
        <p:spPr>
          <a:xfrm>
            <a:off x="795528" y="386930"/>
            <a:ext cx="10141799" cy="1300554"/>
          </a:xfrm>
        </p:spPr>
        <p:txBody>
          <a:bodyPr vert="horz" lIns="91440" tIns="45720" rIns="91440" bIns="45720" rtlCol="0" anchor="b">
            <a:normAutofit/>
          </a:bodyPr>
          <a:lstStyle/>
          <a:p>
            <a:r>
              <a:rPr lang="en-US" sz="4100" kern="1200">
                <a:solidFill>
                  <a:schemeClr val="tx1"/>
                </a:solidFill>
                <a:latin typeface="+mj-lt"/>
                <a:ea typeface="+mj-ea"/>
                <a:cs typeface="+mj-cs"/>
              </a:rPr>
              <a:t>Model Comparison by Accuracy and F1 Score</a:t>
            </a:r>
          </a:p>
        </p:txBody>
      </p:sp>
      <p:sp>
        <p:nvSpPr>
          <p:cNvPr id="170" name="Rectangle 169">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B04E474-7B74-88DD-9183-7CF6B8FFBA52}"/>
              </a:ext>
            </a:extLst>
          </p:cNvPr>
          <p:cNvSpPr txBox="1"/>
          <p:nvPr/>
        </p:nvSpPr>
        <p:spPr>
          <a:xfrm>
            <a:off x="6406429"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dirty="0" err="1">
                <a:effectLst/>
              </a:rPr>
              <a:t>LightGBM</a:t>
            </a:r>
            <a:r>
              <a:rPr lang="en-US" sz="1900" dirty="0">
                <a:effectLst/>
              </a:rPr>
              <a:t> showed the highest performance </a:t>
            </a:r>
            <a:r>
              <a:rPr lang="en-US" sz="1900" dirty="0"/>
              <a:t>with </a:t>
            </a:r>
            <a:r>
              <a:rPr lang="en-US" sz="1900" dirty="0">
                <a:effectLst/>
              </a:rPr>
              <a:t>Precision: 0.581 and F1-measure: 0.588</a:t>
            </a:r>
            <a:r>
              <a:rPr lang="en-US" sz="1900" dirty="0"/>
              <a:t>. </a:t>
            </a:r>
            <a:r>
              <a:rPr lang="en-US" sz="1900" dirty="0">
                <a:effectLst/>
              </a:rPr>
              <a:t>Optimal equilibrium between precision and recall within AQI categories</a:t>
            </a:r>
          </a:p>
          <a:p>
            <a:pPr indent="-228600">
              <a:lnSpc>
                <a:spcPct val="90000"/>
              </a:lnSpc>
              <a:spcAft>
                <a:spcPts val="600"/>
              </a:spcAft>
              <a:buFont typeface="Arial" panose="020B0604020202020204" pitchFamily="34" charset="0"/>
              <a:buChar char="•"/>
            </a:pPr>
            <a:r>
              <a:rPr lang="en-US" sz="1900" dirty="0">
                <a:effectLst/>
              </a:rPr>
              <a:t>KNN and Random Forest demonstrated comparable effectiveness</a:t>
            </a:r>
            <a:r>
              <a:rPr lang="en-US" sz="1900" dirty="0"/>
              <a:t>. </a:t>
            </a:r>
            <a:r>
              <a:rPr lang="en-US" sz="1900" dirty="0">
                <a:effectLst/>
              </a:rPr>
              <a:t>Better at capturing non-linear patterns compared to linear models.</a:t>
            </a:r>
          </a:p>
          <a:p>
            <a:pPr indent="-228600">
              <a:lnSpc>
                <a:spcPct val="90000"/>
              </a:lnSpc>
              <a:spcAft>
                <a:spcPts val="600"/>
              </a:spcAft>
              <a:buFont typeface="Arial" panose="020B0604020202020204" pitchFamily="34" charset="0"/>
              <a:buChar char="•"/>
            </a:pPr>
            <a:r>
              <a:rPr lang="en-US" sz="1900" dirty="0">
                <a:effectLst/>
              </a:rPr>
              <a:t>Logistic Regression and SVC exhibited subpar performance.</a:t>
            </a:r>
            <a:r>
              <a:rPr lang="en-US" sz="1900" dirty="0"/>
              <a:t> </a:t>
            </a:r>
            <a:r>
              <a:rPr lang="en-US" sz="1900" dirty="0">
                <a:effectLst/>
              </a:rPr>
              <a:t>Faced difficulties with intricate connections and unequal class distribution.</a:t>
            </a:r>
            <a:endParaRPr lang="en-US" sz="1900" dirty="0"/>
          </a:p>
        </p:txBody>
      </p:sp>
      <p:sp>
        <p:nvSpPr>
          <p:cNvPr id="172" name="Rectangle 171">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14">
            <a:extLst>
              <a:ext uri="{FF2B5EF4-FFF2-40B4-BE49-F238E27FC236}">
                <a16:creationId xmlns:a16="http://schemas.microsoft.com/office/drawing/2014/main" id="{C5699411-6543-F80A-BBAE-5AB79463E2CC}"/>
              </a:ext>
            </a:extLst>
          </p:cNvPr>
          <p:cNvGraphicFramePr>
            <a:graphicFrameLocks noGrp="1"/>
          </p:cNvGraphicFramePr>
          <p:nvPr>
            <p:ph idx="1"/>
            <p:extLst>
              <p:ext uri="{D42A27DB-BD31-4B8C-83A1-F6EECF244321}">
                <p14:modId xmlns:p14="http://schemas.microsoft.com/office/powerpoint/2010/main" val="481571889"/>
              </p:ext>
            </p:extLst>
          </p:nvPr>
        </p:nvGraphicFramePr>
        <p:xfrm>
          <a:off x="635295" y="2615845"/>
          <a:ext cx="5150278" cy="3531988"/>
        </p:xfrm>
        <a:graphic>
          <a:graphicData uri="http://schemas.openxmlformats.org/drawingml/2006/table">
            <a:tbl>
              <a:tblPr firstRow="1" bandRow="1">
                <a:noFill/>
                <a:tableStyleId>{5C22544A-7EE6-4342-B048-85BDC9FD1C3A}</a:tableStyleId>
              </a:tblPr>
              <a:tblGrid>
                <a:gridCol w="1904237">
                  <a:extLst>
                    <a:ext uri="{9D8B030D-6E8A-4147-A177-3AD203B41FA5}">
                      <a16:colId xmlns:a16="http://schemas.microsoft.com/office/drawing/2014/main" val="1333095352"/>
                    </a:ext>
                  </a:extLst>
                </a:gridCol>
                <a:gridCol w="1510553">
                  <a:extLst>
                    <a:ext uri="{9D8B030D-6E8A-4147-A177-3AD203B41FA5}">
                      <a16:colId xmlns:a16="http://schemas.microsoft.com/office/drawing/2014/main" val="1423824680"/>
                    </a:ext>
                  </a:extLst>
                </a:gridCol>
                <a:gridCol w="1735488">
                  <a:extLst>
                    <a:ext uri="{9D8B030D-6E8A-4147-A177-3AD203B41FA5}">
                      <a16:colId xmlns:a16="http://schemas.microsoft.com/office/drawing/2014/main" val="294602726"/>
                    </a:ext>
                  </a:extLst>
                </a:gridCol>
              </a:tblGrid>
              <a:tr h="850193">
                <a:tc>
                  <a:txBody>
                    <a:bodyPr/>
                    <a:lstStyle/>
                    <a:p>
                      <a:r>
                        <a:rPr lang="en-US" sz="1700" b="0" cap="all" spc="150">
                          <a:solidFill>
                            <a:schemeClr val="lt1"/>
                          </a:solidFill>
                        </a:rPr>
                        <a:t>Classifier</a:t>
                      </a:r>
                    </a:p>
                  </a:txBody>
                  <a:tcPr marL="149468" marR="149468" marT="149468" marB="149468" anchor="ctr">
                    <a:lnL w="12700" cmpd="sng">
                      <a:noFill/>
                    </a:lnL>
                    <a:lnR w="12700" cmpd="sng">
                      <a:noFill/>
                      <a:prstDash val="solid"/>
                    </a:lnR>
                    <a:lnT w="12700" cmpd="sng">
                      <a:noFill/>
                    </a:lnT>
                    <a:lnB w="12700" cmpd="sng">
                      <a:noFill/>
                      <a:prstDash val="solid"/>
                    </a:lnB>
                    <a:solidFill>
                      <a:srgbClr val="50535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cap="all" spc="150">
                          <a:solidFill>
                            <a:schemeClr val="lt1"/>
                          </a:solidFill>
                        </a:rPr>
                        <a:t>F1 Score</a:t>
                      </a:r>
                    </a:p>
                  </a:txBody>
                  <a:tcPr marL="149468" marR="149468" marT="149468" marB="149468" anchor="ctr">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US" sz="1700" b="0" cap="all" spc="150">
                          <a:solidFill>
                            <a:schemeClr val="lt1"/>
                          </a:solidFill>
                        </a:rPr>
                        <a:t>Accuracy</a:t>
                      </a:r>
                    </a:p>
                  </a:txBody>
                  <a:tcPr marL="149468" marR="149468" marT="149468" marB="149468" anchor="ctr">
                    <a:lnL w="12700" cmpd="sng">
                      <a:noFill/>
                      <a:prstDash val="solid"/>
                    </a:lnL>
                    <a:lnR w="12700" cmpd="sng">
                      <a:noFill/>
                      <a:prstDash val="solid"/>
                    </a:lnR>
                    <a:lnT w="12700" cmpd="sng">
                      <a:noFill/>
                    </a:lnT>
                    <a:lnB w="12700" cmpd="sng">
                      <a:noFill/>
                      <a:prstDash val="solid"/>
                    </a:lnB>
                    <a:solidFill>
                      <a:srgbClr val="505356"/>
                    </a:solidFill>
                  </a:tcPr>
                </a:tc>
                <a:extLst>
                  <a:ext uri="{0D108BD9-81ED-4DB2-BD59-A6C34878D82A}">
                    <a16:rowId xmlns:a16="http://schemas.microsoft.com/office/drawing/2014/main" val="4056583691"/>
                  </a:ext>
                </a:extLst>
              </a:tr>
              <a:tr h="536359">
                <a:tc>
                  <a:txBody>
                    <a:bodyPr/>
                    <a:lstStyle/>
                    <a:p>
                      <a:r>
                        <a:rPr lang="en-US" sz="1300" cap="none" spc="0">
                          <a:solidFill>
                            <a:schemeClr val="tx1"/>
                          </a:solidFill>
                        </a:rPr>
                        <a:t>LightGBM</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cap="none" spc="0">
                          <a:solidFill>
                            <a:schemeClr val="tx1"/>
                          </a:solidFill>
                        </a:rPr>
                        <a:t>0.59</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cap="none" spc="0">
                          <a:solidFill>
                            <a:schemeClr val="tx1"/>
                          </a:solidFill>
                        </a:rPr>
                        <a:t>0.58</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28309443"/>
                  </a:ext>
                </a:extLst>
              </a:tr>
              <a:tr h="536359">
                <a:tc>
                  <a:txBody>
                    <a:bodyPr/>
                    <a:lstStyle/>
                    <a:p>
                      <a:r>
                        <a:rPr lang="en-US" sz="1300" cap="none" spc="0">
                          <a:solidFill>
                            <a:schemeClr val="tx1"/>
                          </a:solidFill>
                        </a:rPr>
                        <a:t>KNN</a:t>
                      </a:r>
                    </a:p>
                  </a:txBody>
                  <a:tcPr marL="149468" marR="149468" marT="149468" marB="14946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300" cap="none" spc="0">
                          <a:solidFill>
                            <a:schemeClr val="tx1"/>
                          </a:solidFill>
                        </a:rPr>
                        <a:t>0.57</a:t>
                      </a:r>
                    </a:p>
                  </a:txBody>
                  <a:tcPr marL="149468" marR="149468" marT="149468" marB="14946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300" cap="none" spc="0">
                          <a:solidFill>
                            <a:schemeClr val="tx1"/>
                          </a:solidFill>
                        </a:rPr>
                        <a:t>0.55</a:t>
                      </a:r>
                    </a:p>
                  </a:txBody>
                  <a:tcPr marL="149468" marR="149468" marT="149468" marB="14946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365214228"/>
                  </a:ext>
                </a:extLst>
              </a:tr>
              <a:tr h="536359">
                <a:tc>
                  <a:txBody>
                    <a:bodyPr/>
                    <a:lstStyle/>
                    <a:p>
                      <a:r>
                        <a:rPr lang="en-US" sz="1300" cap="none" spc="0">
                          <a:solidFill>
                            <a:schemeClr val="tx1"/>
                          </a:solidFill>
                        </a:rPr>
                        <a:t>Random Forest</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300" cap="none" spc="0">
                          <a:solidFill>
                            <a:schemeClr val="tx1"/>
                          </a:solidFill>
                        </a:rPr>
                        <a:t>0.57</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300" cap="none" spc="0">
                          <a:solidFill>
                            <a:schemeClr val="tx1"/>
                          </a:solidFill>
                        </a:rPr>
                        <a:t>0.53</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03528301"/>
                  </a:ext>
                </a:extLst>
              </a:tr>
              <a:tr h="536359">
                <a:tc>
                  <a:txBody>
                    <a:bodyPr/>
                    <a:lstStyle/>
                    <a:p>
                      <a:r>
                        <a:rPr lang="en-US" sz="1300" cap="none" spc="0">
                          <a:solidFill>
                            <a:schemeClr val="tx1"/>
                          </a:solidFill>
                        </a:rPr>
                        <a:t>SVC</a:t>
                      </a:r>
                    </a:p>
                  </a:txBody>
                  <a:tcPr marL="149468" marR="149468" marT="149468" marB="14946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300" cap="none" spc="0">
                          <a:solidFill>
                            <a:schemeClr val="tx1"/>
                          </a:solidFill>
                        </a:rPr>
                        <a:t>0.42</a:t>
                      </a:r>
                    </a:p>
                  </a:txBody>
                  <a:tcPr marL="149468" marR="149468" marT="149468" marB="14946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300" cap="none" spc="0">
                          <a:solidFill>
                            <a:schemeClr val="tx1"/>
                          </a:solidFill>
                        </a:rPr>
                        <a:t>0.37</a:t>
                      </a:r>
                    </a:p>
                  </a:txBody>
                  <a:tcPr marL="149468" marR="149468" marT="149468" marB="149468">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827808184"/>
                  </a:ext>
                </a:extLst>
              </a:tr>
              <a:tr h="536359">
                <a:tc>
                  <a:txBody>
                    <a:bodyPr/>
                    <a:lstStyle/>
                    <a:p>
                      <a:r>
                        <a:rPr lang="en-US" sz="1300" cap="none" spc="0">
                          <a:solidFill>
                            <a:schemeClr val="tx1"/>
                          </a:solidFill>
                        </a:rPr>
                        <a:t>Logistic Regression</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300" cap="none" spc="0">
                          <a:solidFill>
                            <a:schemeClr val="tx1"/>
                          </a:solidFill>
                        </a:rPr>
                        <a:t>0.33</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300" cap="none" spc="0">
                          <a:solidFill>
                            <a:schemeClr val="tx1"/>
                          </a:solidFill>
                        </a:rPr>
                        <a:t>0.35</a:t>
                      </a:r>
                    </a:p>
                  </a:txBody>
                  <a:tcPr marL="149468" marR="149468" marT="149468" marB="14946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7328444"/>
                  </a:ext>
                </a:extLst>
              </a:tr>
            </a:tbl>
          </a:graphicData>
        </a:graphic>
      </p:graphicFrame>
    </p:spTree>
    <p:extLst>
      <p:ext uri="{BB962C8B-B14F-4D97-AF65-F5344CB8AC3E}">
        <p14:creationId xmlns:p14="http://schemas.microsoft.com/office/powerpoint/2010/main" val="186108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E6C64F-DD76-5608-D6A8-6273B5B8B0BF}"/>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Limitations and Future Improvements</a:t>
            </a:r>
          </a:p>
        </p:txBody>
      </p:sp>
      <p:grpSp>
        <p:nvGrpSpPr>
          <p:cNvPr id="79" name="Group 7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80" name="Rectangle 7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A59768E4-7B00-1E5E-798A-D6F62F51EC58}"/>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a:lnSpc>
                <a:spcPct val="90000"/>
              </a:lnSpc>
              <a:spcAft>
                <a:spcPts val="600"/>
              </a:spcAft>
            </a:pPr>
            <a:r>
              <a:rPr lang="en-US" sz="1400" b="1" i="0" u="sng" dirty="0">
                <a:effectLst/>
              </a:rPr>
              <a:t>Limitations:</a:t>
            </a:r>
          </a:p>
          <a:p>
            <a:pPr marL="285750" indent="-228600">
              <a:lnSpc>
                <a:spcPct val="90000"/>
              </a:lnSpc>
              <a:spcAft>
                <a:spcPts val="600"/>
              </a:spcAft>
              <a:buFont typeface="Arial" panose="020B0604020202020204" pitchFamily="34" charset="0"/>
              <a:buChar char="•"/>
            </a:pPr>
            <a:r>
              <a:rPr lang="en-US" sz="1400" dirty="0">
                <a:effectLst/>
              </a:rPr>
              <a:t>Moderate overall results (F1 &lt; 0.6) suggest that classifying AQI continues to be difficult.</a:t>
            </a:r>
          </a:p>
          <a:p>
            <a:pPr marL="285750" indent="-228600">
              <a:lnSpc>
                <a:spcPct val="90000"/>
              </a:lnSpc>
              <a:spcAft>
                <a:spcPts val="600"/>
              </a:spcAft>
              <a:buFont typeface="Arial" panose="020B0604020202020204" pitchFamily="34" charset="0"/>
              <a:buChar char="•"/>
            </a:pPr>
            <a:r>
              <a:rPr lang="en-US" sz="1400" dirty="0">
                <a:effectLst/>
              </a:rPr>
              <a:t>Class imbalance impacts infrequent yet important AQI categories.</a:t>
            </a:r>
          </a:p>
          <a:p>
            <a:pPr marL="285750" indent="-228600">
              <a:lnSpc>
                <a:spcPct val="90000"/>
              </a:lnSpc>
              <a:spcAft>
                <a:spcPts val="600"/>
              </a:spcAft>
              <a:buFont typeface="Arial" panose="020B0604020202020204" pitchFamily="34" charset="0"/>
              <a:buChar char="•"/>
            </a:pPr>
            <a:r>
              <a:rPr lang="en-US" sz="1400" dirty="0">
                <a:effectLst/>
              </a:rPr>
              <a:t>Absent external factors (e.g., climate, pollution, congestion)</a:t>
            </a:r>
          </a:p>
          <a:p>
            <a:pPr indent="-228600">
              <a:lnSpc>
                <a:spcPct val="90000"/>
              </a:lnSpc>
              <a:spcAft>
                <a:spcPts val="600"/>
              </a:spcAft>
              <a:buFont typeface="Arial" panose="020B0604020202020204" pitchFamily="34" charset="0"/>
              <a:buChar char="•"/>
            </a:pPr>
            <a:endParaRPr lang="en-US" sz="1400" b="1" i="0" dirty="0"/>
          </a:p>
          <a:p>
            <a:pPr>
              <a:lnSpc>
                <a:spcPct val="90000"/>
              </a:lnSpc>
              <a:spcAft>
                <a:spcPts val="600"/>
              </a:spcAft>
            </a:pPr>
            <a:r>
              <a:rPr lang="en-US" sz="1400" b="1" i="0" u="sng" dirty="0">
                <a:effectLst/>
              </a:rPr>
              <a:t>Future Improvements: </a:t>
            </a:r>
          </a:p>
          <a:p>
            <a:pPr marL="285750" indent="-228600">
              <a:lnSpc>
                <a:spcPct val="90000"/>
              </a:lnSpc>
              <a:spcAft>
                <a:spcPts val="600"/>
              </a:spcAft>
              <a:buFont typeface="Arial" panose="020B0604020202020204" pitchFamily="34" charset="0"/>
              <a:buChar char="•"/>
            </a:pPr>
            <a:r>
              <a:rPr lang="en-US" sz="1400" dirty="0">
                <a:effectLst/>
              </a:rPr>
              <a:t>Integrate weather-related factors (temperature, wind, humidity).</a:t>
            </a:r>
          </a:p>
          <a:p>
            <a:pPr marL="285750" indent="-228600">
              <a:lnSpc>
                <a:spcPct val="90000"/>
              </a:lnSpc>
              <a:spcAft>
                <a:spcPts val="600"/>
              </a:spcAft>
              <a:buFont typeface="Arial" panose="020B0604020202020204" pitchFamily="34" charset="0"/>
              <a:buChar char="•"/>
            </a:pPr>
            <a:r>
              <a:rPr lang="en-US" sz="1400" dirty="0">
                <a:effectLst/>
              </a:rPr>
              <a:t>Utilize sophisticated imbalance management techniques (SMOTE, focal loss)</a:t>
            </a:r>
          </a:p>
          <a:p>
            <a:pPr marL="285750" indent="-228600">
              <a:lnSpc>
                <a:spcPct val="90000"/>
              </a:lnSpc>
              <a:spcAft>
                <a:spcPts val="600"/>
              </a:spcAft>
              <a:buFont typeface="Arial" panose="020B0604020202020204" pitchFamily="34" charset="0"/>
              <a:buChar char="•"/>
            </a:pPr>
            <a:r>
              <a:rPr lang="en-US" sz="1400" dirty="0">
                <a:effectLst/>
              </a:rPr>
              <a:t>Investigate probabilistic forecasting for AQI alerts that account for uncertainty</a:t>
            </a:r>
          </a:p>
        </p:txBody>
      </p:sp>
      <p:sp>
        <p:nvSpPr>
          <p:cNvPr id="85" name="Rectangle 8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descr="Fumes from a powerplant chimney">
            <a:extLst>
              <a:ext uri="{FF2B5EF4-FFF2-40B4-BE49-F238E27FC236}">
                <a16:creationId xmlns:a16="http://schemas.microsoft.com/office/drawing/2014/main" id="{BB2B7ACC-324E-90C7-1E2A-CE970120EAFC}"/>
              </a:ext>
            </a:extLst>
          </p:cNvPr>
          <p:cNvPicPr>
            <a:picLocks noChangeAspect="1"/>
          </p:cNvPicPr>
          <p:nvPr/>
        </p:nvPicPr>
        <p:blipFill>
          <a:blip r:embed="rId2"/>
          <a:srcRect l="13049" r="17320"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74708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5AB3-9C32-F1BB-7F58-6A0CDD8FC1C9}"/>
              </a:ext>
            </a:extLst>
          </p:cNvPr>
          <p:cNvSpPr>
            <a:spLocks noGrp="1"/>
          </p:cNvSpPr>
          <p:nvPr>
            <p:ph type="title"/>
          </p:nvPr>
        </p:nvSpPr>
        <p:spPr>
          <a:xfrm>
            <a:off x="5868557" y="1138036"/>
            <a:ext cx="5444382" cy="1402470"/>
          </a:xfrm>
        </p:spPr>
        <p:txBody>
          <a:bodyPr anchor="t">
            <a:normAutofit/>
          </a:bodyPr>
          <a:lstStyle/>
          <a:p>
            <a:r>
              <a:rPr lang="en-US" sz="3200" dirty="0"/>
              <a:t>Conclusion</a:t>
            </a:r>
          </a:p>
        </p:txBody>
      </p:sp>
      <p:pic>
        <p:nvPicPr>
          <p:cNvPr id="20" name="Picture 19" descr="A white and red circular object with a dome&#10;&#10;AI-generated content may be incorrect.">
            <a:extLst>
              <a:ext uri="{FF2B5EF4-FFF2-40B4-BE49-F238E27FC236}">
                <a16:creationId xmlns:a16="http://schemas.microsoft.com/office/drawing/2014/main" id="{398DA59C-BE52-F75C-FEA6-91095E5D56DD}"/>
              </a:ext>
            </a:extLst>
          </p:cNvPr>
          <p:cNvPicPr>
            <a:picLocks noChangeAspect="1"/>
          </p:cNvPicPr>
          <p:nvPr/>
        </p:nvPicPr>
        <p:blipFill>
          <a:blip r:embed="rId2"/>
          <a:srcRect l="2964" r="54786"/>
          <a:stretch>
            <a:fillRect/>
          </a:stretch>
        </p:blipFill>
        <p:spPr>
          <a:xfrm>
            <a:off x="-1" y="10"/>
            <a:ext cx="5151179" cy="6857990"/>
          </a:xfrm>
          <a:prstGeom prst="rect">
            <a:avLst/>
          </a:prstGeom>
        </p:spPr>
      </p:pic>
      <p:cxnSp>
        <p:nvCxnSpPr>
          <p:cNvPr id="21" name="Straight Connector 2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1139A6-1025-23D4-1FA9-25D40167767B}"/>
              </a:ext>
            </a:extLst>
          </p:cNvPr>
          <p:cNvSpPr>
            <a:spLocks noGrp="1"/>
          </p:cNvSpPr>
          <p:nvPr>
            <p:ph idx="1"/>
          </p:nvPr>
        </p:nvSpPr>
        <p:spPr>
          <a:xfrm>
            <a:off x="5868556" y="2045616"/>
            <a:ext cx="5830107" cy="4602834"/>
          </a:xfrm>
        </p:spPr>
        <p:txBody>
          <a:bodyPr>
            <a:noAutofit/>
          </a:bodyPr>
          <a:lstStyle/>
          <a:p>
            <a:pPr>
              <a:buNone/>
            </a:pPr>
            <a:r>
              <a:rPr lang="en-US" sz="1500" b="1" dirty="0">
                <a:effectLst/>
              </a:rPr>
              <a:t>AQI Trends and Seasonal Variations (1980–2025):</a:t>
            </a:r>
            <a:r>
              <a:rPr lang="en-US" sz="1500" b="1" dirty="0"/>
              <a:t> </a:t>
            </a:r>
            <a:r>
              <a:rPr lang="en-US" sz="1500" dirty="0">
                <a:effectLst/>
              </a:rPr>
              <a:t>Examination of air quality in NYC showed distinct seasonal and temporal trends, with elevated pollution levels during certain months and ongoing variations between counties, validating that AQI fluctuates both seasonally and regionally.</a:t>
            </a:r>
            <a:br>
              <a:rPr lang="en-US" sz="1500" dirty="0">
                <a:effectLst/>
              </a:rPr>
            </a:br>
            <a:endParaRPr lang="en-US" sz="1500" dirty="0">
              <a:effectLst/>
            </a:endParaRPr>
          </a:p>
          <a:p>
            <a:pPr>
              <a:buNone/>
            </a:pPr>
            <a:r>
              <a:rPr lang="en-US" sz="1500" b="1" dirty="0">
                <a:effectLst/>
              </a:rPr>
              <a:t>Predicting Future AQI Values Using Deep Learning:</a:t>
            </a:r>
            <a:r>
              <a:rPr lang="en-US" sz="1500" b="1" dirty="0"/>
              <a:t> </a:t>
            </a:r>
            <a:r>
              <a:rPr lang="en-US" sz="1500" dirty="0">
                <a:effectLst/>
              </a:rPr>
              <a:t>LSTM time series models showed encouraging results in forecasting future AQI trends, successfully capturing temporal relationships and seasonal fluctuations more effectively.</a:t>
            </a:r>
            <a:br>
              <a:rPr lang="en-US" sz="1500" dirty="0">
                <a:effectLst/>
              </a:rPr>
            </a:br>
            <a:endParaRPr lang="en-US" sz="1500" dirty="0">
              <a:effectLst/>
            </a:endParaRPr>
          </a:p>
          <a:p>
            <a:pPr>
              <a:buNone/>
            </a:pPr>
            <a:r>
              <a:rPr lang="en-US" sz="1500" b="1" dirty="0">
                <a:effectLst/>
              </a:rPr>
              <a:t>Forecasting AQI Classifications using Machine Learning:</a:t>
            </a:r>
            <a:r>
              <a:rPr lang="en-US" sz="1500" b="1" dirty="0"/>
              <a:t> </a:t>
            </a:r>
            <a:r>
              <a:rPr lang="en-US" sz="1500" dirty="0">
                <a:effectLst/>
              </a:rPr>
              <a:t>Of the classifiers evaluated, </a:t>
            </a:r>
            <a:r>
              <a:rPr lang="en-US" sz="1500" dirty="0" err="1">
                <a:effectLst/>
              </a:rPr>
              <a:t>LightGBM</a:t>
            </a:r>
            <a:r>
              <a:rPr lang="en-US" sz="1500" dirty="0">
                <a:effectLst/>
              </a:rPr>
              <a:t>, KNN, and Random Forest demonstrated the best predictive performance, attaining F1-scores of approximately 57–59%. They excelled in typical AQI categories but faced challenges with infrequent extreme categories because of class imbalance. Less complex models such as Logistic Regression and SVC demonstrated reduced accuracy and F1-scores, underscoring the benefits of tree-based ensemble methods for this objective</a:t>
            </a:r>
            <a:endParaRPr lang="en-US" sz="1500" dirty="0"/>
          </a:p>
        </p:txBody>
      </p:sp>
    </p:spTree>
    <p:extLst>
      <p:ext uri="{BB962C8B-B14F-4D97-AF65-F5344CB8AC3E}">
        <p14:creationId xmlns:p14="http://schemas.microsoft.com/office/powerpoint/2010/main" val="1960010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BCD591-5416-AA78-5588-0EBC179B5C6E}"/>
              </a:ext>
            </a:extLst>
          </p:cNvPr>
          <p:cNvSpPr>
            <a:spLocks noGrp="1"/>
          </p:cNvSpPr>
          <p:nvPr>
            <p:ph type="title"/>
          </p:nvPr>
        </p:nvSpPr>
        <p:spPr>
          <a:xfrm>
            <a:off x="1043631" y="809898"/>
            <a:ext cx="9942716" cy="1554480"/>
          </a:xfrm>
        </p:spPr>
        <p:txBody>
          <a:bodyPr anchor="ctr">
            <a:normAutofit/>
          </a:bodyPr>
          <a:lstStyle/>
          <a:p>
            <a:r>
              <a:rPr lang="en-US" sz="4800"/>
              <a:t>References</a:t>
            </a:r>
          </a:p>
        </p:txBody>
      </p:sp>
      <p:sp>
        <p:nvSpPr>
          <p:cNvPr id="3" name="Content Placeholder 2">
            <a:extLst>
              <a:ext uri="{FF2B5EF4-FFF2-40B4-BE49-F238E27FC236}">
                <a16:creationId xmlns:a16="http://schemas.microsoft.com/office/drawing/2014/main" id="{7914BAF5-776E-5EC3-B95D-23A87624067B}"/>
              </a:ext>
            </a:extLst>
          </p:cNvPr>
          <p:cNvSpPr>
            <a:spLocks noGrp="1"/>
          </p:cNvSpPr>
          <p:nvPr>
            <p:ph idx="1"/>
          </p:nvPr>
        </p:nvSpPr>
        <p:spPr>
          <a:xfrm>
            <a:off x="1045028" y="2704014"/>
            <a:ext cx="9941319" cy="3438166"/>
          </a:xfrm>
        </p:spPr>
        <p:txBody>
          <a:bodyPr anchor="ctr">
            <a:normAutofit lnSpcReduction="10000"/>
          </a:bodyPr>
          <a:lstStyle/>
          <a:p>
            <a:pPr marL="0" indent="0">
              <a:buNone/>
            </a:pPr>
            <a:r>
              <a:rPr lang="en-US" sz="2000" dirty="0"/>
              <a:t>[1] </a:t>
            </a:r>
            <a:r>
              <a:rPr lang="en-US" sz="2000" dirty="0" err="1"/>
              <a:t>NafeesKhandker</a:t>
            </a:r>
            <a:r>
              <a:rPr lang="en-US" sz="2000" dirty="0"/>
              <a:t>. (2025). GitHub - </a:t>
            </a:r>
            <a:r>
              <a:rPr lang="en-US" sz="2000" dirty="0" err="1"/>
              <a:t>NafeesKhandker</a:t>
            </a:r>
            <a:r>
              <a:rPr lang="en-US" sz="2000" dirty="0"/>
              <a:t>/Forecasting-and-Classifying-Air-Quality-in-NYC-A-Data-Driven-Approach---1980-2025. GitHub. https://github.com/NafeesKhandker/Forecasting-and-Classifying-Air-Quality-in-NYC-A-Data-Driven-Approach---1980-2025</a:t>
            </a:r>
          </a:p>
          <a:p>
            <a:pPr marL="0" indent="0">
              <a:buNone/>
            </a:pPr>
            <a:r>
              <a:rPr lang="en-US" sz="2000" dirty="0"/>
              <a:t>‌</a:t>
            </a:r>
            <a:r>
              <a:rPr lang="en-US" sz="2000" b="0" i="0" dirty="0">
                <a:effectLst/>
                <a:latin typeface="Calibri" panose="020F0502020204030204" pitchFamily="34" charset="0"/>
              </a:rPr>
              <a:t>[2] Amin, S. (2024, October 11). </a:t>
            </a:r>
            <a:r>
              <a:rPr lang="en-US" sz="2000" b="0" i="1" dirty="0">
                <a:effectLst/>
                <a:latin typeface="Calibri" panose="020F0502020204030204" pitchFamily="34" charset="0"/>
              </a:rPr>
              <a:t>Part I: Understanding Long Short-Term Memory (LSTM): LSTM Implementation from Scratch</a:t>
            </a:r>
            <a:r>
              <a:rPr lang="en-US" sz="2000" b="0" i="0" dirty="0">
                <a:effectLst/>
                <a:latin typeface="Calibri" panose="020F0502020204030204" pitchFamily="34" charset="0"/>
              </a:rPr>
              <a:t>. Medium. https://medium.com/@samina.amin/understanding-lstms-lstm-implementation-from-scratch-18965a150eca</a:t>
            </a:r>
          </a:p>
          <a:p>
            <a:pPr marL="0" indent="0">
              <a:buNone/>
            </a:pPr>
            <a:r>
              <a:rPr lang="en-US" sz="2000" dirty="0"/>
              <a:t>[3] Li, Y., Lin, Z., Jin, J., &amp; Kong, D. (2025). </a:t>
            </a:r>
            <a:r>
              <a:rPr lang="en-US" sz="2000" i="1" dirty="0"/>
              <a:t>Air quality prediction model based on BP neural network and LSTM</a:t>
            </a:r>
            <a:r>
              <a:rPr lang="en-US" sz="2000" dirty="0"/>
              <a:t>. </a:t>
            </a:r>
            <a:r>
              <a:rPr lang="en-US" sz="2000" i="1" dirty="0"/>
              <a:t>Highlights in Science, Engineering and Technology, 141</a:t>
            </a:r>
            <a:r>
              <a:rPr lang="en-US" sz="2000" dirty="0"/>
              <a:t>, 147–155. https://doi.org/10.54097/6wv97t44</a:t>
            </a:r>
          </a:p>
          <a:p>
            <a:pPr marL="0" indent="0">
              <a:buNone/>
            </a:pPr>
            <a:r>
              <a:rPr lang="en-US" sz="2000" dirty="0"/>
              <a:t> </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024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C362-45F8-03B0-1870-8C596DCC28E6}"/>
              </a:ext>
            </a:extLst>
          </p:cNvPr>
          <p:cNvSpPr>
            <a:spLocks noGrp="1"/>
          </p:cNvSpPr>
          <p:nvPr>
            <p:ph type="title"/>
          </p:nvPr>
        </p:nvSpPr>
        <p:spPr>
          <a:xfrm>
            <a:off x="4335293" y="2834312"/>
            <a:ext cx="3521413" cy="1325563"/>
          </a:xfrm>
        </p:spPr>
        <p:txBody>
          <a:bodyPr/>
          <a:lstStyle/>
          <a:p>
            <a:r>
              <a:rPr lang="en-US" dirty="0"/>
              <a:t>Thank you!</a:t>
            </a:r>
          </a:p>
        </p:txBody>
      </p:sp>
    </p:spTree>
    <p:extLst>
      <p:ext uri="{BB962C8B-B14F-4D97-AF65-F5344CB8AC3E}">
        <p14:creationId xmlns:p14="http://schemas.microsoft.com/office/powerpoint/2010/main" val="2167744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E4892BD034B96469C017CCB84E86BD2" ma:contentTypeVersion="4" ma:contentTypeDescription="Create a new document." ma:contentTypeScope="" ma:versionID="1ea42058b01a049fdee96dba72639ce1">
  <xsd:schema xmlns:xsd="http://www.w3.org/2001/XMLSchema" xmlns:xs="http://www.w3.org/2001/XMLSchema" xmlns:p="http://schemas.microsoft.com/office/2006/metadata/properties" xmlns:ns3="831f9fe3-c50f-4841-866d-984cf39cdffc" targetNamespace="http://schemas.microsoft.com/office/2006/metadata/properties" ma:root="true" ma:fieldsID="a32ced6193e42d7560e433a6bcb85174" ns3:_="">
    <xsd:import namespace="831f9fe3-c50f-4841-866d-984cf39cdff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1f9fe3-c50f-4841-866d-984cf39cdf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6DDAE2-5358-4A88-8AA8-ADC21A1DE8B1}">
  <ds:schemaRefs>
    <ds:schemaRef ds:uri="http://schemas.microsoft.com/sharepoint/v3/contenttype/forms"/>
  </ds:schemaRefs>
</ds:datastoreItem>
</file>

<file path=customXml/itemProps2.xml><?xml version="1.0" encoding="utf-8"?>
<ds:datastoreItem xmlns:ds="http://schemas.openxmlformats.org/officeDocument/2006/customXml" ds:itemID="{206F9C76-7C40-4323-9100-3C97A7193B9A}">
  <ds:schemaRefs>
    <ds:schemaRef ds:uri="http://schemas.microsoft.com/office/2006/metadata/properties"/>
    <ds:schemaRef ds:uri="http://purl.org/dc/terms/"/>
    <ds:schemaRef ds:uri="831f9fe3-c50f-4841-866d-984cf39cdffc"/>
    <ds:schemaRef ds:uri="http://purl.org/dc/dcmityp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2676B78-06A0-4505-95CF-D31FF5050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1f9fe3-c50f-4841-866d-984cf39cdf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f60f0b3-5f06-4e09-9715-989dba8cc7d8}" enabled="0" method="" siteId="{6f60f0b3-5f06-4e09-9715-989dba8cc7d8}" removed="1"/>
</clbl:labelList>
</file>

<file path=docProps/app.xml><?xml version="1.0" encoding="utf-8"?>
<Properties xmlns="http://schemas.openxmlformats.org/officeDocument/2006/extended-properties" xmlns:vt="http://schemas.openxmlformats.org/officeDocument/2006/docPropsVTypes">
  <TotalTime>7376</TotalTime>
  <Words>3443</Words>
  <Application>Microsoft Office PowerPoint</Application>
  <PresentationFormat>Widescreen</PresentationFormat>
  <Paragraphs>207</Paragraphs>
  <Slides>36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Aptos Display</vt:lpstr>
      <vt:lpstr>Arial</vt:lpstr>
      <vt:lpstr>Calibri</vt:lpstr>
      <vt:lpstr>system-ui</vt:lpstr>
      <vt:lpstr>Wingdings</vt:lpstr>
      <vt:lpstr>Office Theme</vt:lpstr>
      <vt:lpstr>Forecasting and Classifying Air Quality in NYC: A Data-Driven Approach (1980–2025)</vt:lpstr>
      <vt:lpstr>Abstract</vt:lpstr>
      <vt:lpstr>Introduction</vt:lpstr>
      <vt:lpstr>Tools &amp; Technologies and Project Code</vt:lpstr>
      <vt:lpstr>Data Wrangling</vt:lpstr>
      <vt:lpstr>Data Wrangling</vt:lpstr>
      <vt:lpstr>Data Wrangling</vt:lpstr>
      <vt:lpstr>Data Wrangling</vt:lpstr>
      <vt:lpstr>Exploratory Data Analysis</vt:lpstr>
      <vt:lpstr>Exploratory Data Analysis</vt:lpstr>
      <vt:lpstr>Exploratory Data Analysis</vt:lpstr>
      <vt:lpstr>Exploratory Data Analysis</vt:lpstr>
      <vt:lpstr>Research Question 1</vt:lpstr>
      <vt:lpstr>Overall Time Series Trend by Daily Average AQI</vt:lpstr>
      <vt:lpstr>Yearly Trend of Average AQI</vt:lpstr>
      <vt:lpstr>Seasonal Pattern of Average AQI by Month</vt:lpstr>
      <vt:lpstr>Research Question 2</vt:lpstr>
      <vt:lpstr>Long Short-Term Memory (LSTM)</vt:lpstr>
      <vt:lpstr>Why LSTM is Appropriate for AQI Forecasting</vt:lpstr>
      <vt:lpstr>Data Pre-processing for LSTM Model</vt:lpstr>
      <vt:lpstr>Build LSTM Model, Train and Predict</vt:lpstr>
      <vt:lpstr>LSTM Model Evaluation</vt:lpstr>
      <vt:lpstr>Model Accuracy, Limitations and Future Improvements</vt:lpstr>
      <vt:lpstr>Research Question 3</vt:lpstr>
      <vt:lpstr>Algorithms for AQI Category Classification</vt:lpstr>
      <vt:lpstr>Relevant Features</vt:lpstr>
      <vt:lpstr>Feature Engineering AND Data Pre-processing</vt:lpstr>
      <vt:lpstr>Time Series Split and Hyperparameter Grids</vt:lpstr>
      <vt:lpstr>Model Building and Parameter Tuning</vt:lpstr>
      <vt:lpstr>Training (Cross-Validation) Performance</vt:lpstr>
      <vt:lpstr>Test (Forecasting) Performance</vt:lpstr>
      <vt:lpstr>Model Comparison by Accuracy and F1 Score</vt:lpstr>
      <vt:lpstr>Limitations and Future Improvements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Khandker Qaiduzzaman</dc:creator>
  <cp:lastModifiedBy>Khandker Qaiduzzaman</cp:lastModifiedBy>
  <cp:revision>4</cp:revision>
  <dcterms:created xsi:type="dcterms:W3CDTF">2025-05-02T13:51:14Z</dcterms:created>
  <dcterms:modified xsi:type="dcterms:W3CDTF">2026-05-19T02:30:43Z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0x010100FE4892BD034B96469C017CCB84E86BD2</vt:lpwstr>
  </property>
</Properties>
</file>